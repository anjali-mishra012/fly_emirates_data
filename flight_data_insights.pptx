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9" r:id="rId4"/>
    <p:sldId id="271" r:id="rId5"/>
    <p:sldId id="267" r:id="rId6"/>
    <p:sldId id="268" r:id="rId7"/>
    <p:sldId id="269" r:id="rId8"/>
    <p:sldId id="270" r:id="rId9"/>
    <p:sldId id="262" r:id="rId10"/>
    <p:sldId id="263" r:id="rId11"/>
    <p:sldId id="266" r:id="rId12"/>
    <p:sldId id="272" r:id="rId13"/>
    <p:sldId id="273" r:id="rId14"/>
    <p:sldId id="274" r:id="rId15"/>
    <p:sldId id="275" r:id="rId1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33"/>
    <a:srgbClr val="FFCC66"/>
    <a:srgbClr val="990099"/>
    <a:srgbClr val="CC0099"/>
    <a:srgbClr val="FE9202"/>
    <a:srgbClr val="6C1A00"/>
    <a:srgbClr val="00AACC"/>
    <a:srgbClr val="5EEC3C"/>
    <a:srgbClr val="1D3A00"/>
    <a:srgbClr val="0032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0" d="100"/>
          <a:sy n="100" d="100"/>
        </p:scale>
        <p:origin x="516" y="-204"/>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jalimishra.am111@gmail.com" userId="98924a2674df745c" providerId="LiveId" clId="{08926A43-E694-45C1-93DA-EAA63CC19BAB}"/>
    <pc:docChg chg="undo custSel addSld delSld modSld addSection delSection">
      <pc:chgData name="anjalimishra.am111@gmail.com" userId="98924a2674df745c" providerId="LiveId" clId="{08926A43-E694-45C1-93DA-EAA63CC19BAB}" dt="2025-07-31T08:07:22.375" v="1484" actId="27636"/>
      <pc:docMkLst>
        <pc:docMk/>
      </pc:docMkLst>
      <pc:sldChg chg="modSp mod">
        <pc:chgData name="anjalimishra.am111@gmail.com" userId="98924a2674df745c" providerId="LiveId" clId="{08926A43-E694-45C1-93DA-EAA63CC19BAB}" dt="2025-07-31T08:06:06.566" v="1478" actId="20577"/>
        <pc:sldMkLst>
          <pc:docMk/>
          <pc:sldMk cId="363920370" sldId="256"/>
        </pc:sldMkLst>
        <pc:spChg chg="mod">
          <ac:chgData name="anjalimishra.am111@gmail.com" userId="98924a2674df745c" providerId="LiveId" clId="{08926A43-E694-45C1-93DA-EAA63CC19BAB}" dt="2025-07-31T08:05:27.832" v="1442" actId="1076"/>
          <ac:spMkLst>
            <pc:docMk/>
            <pc:sldMk cId="363920370" sldId="256"/>
            <ac:spMk id="2" creationId="{00000000-0000-0000-0000-000000000000}"/>
          </ac:spMkLst>
        </pc:spChg>
        <pc:spChg chg="mod">
          <ac:chgData name="anjalimishra.am111@gmail.com" userId="98924a2674df745c" providerId="LiveId" clId="{08926A43-E694-45C1-93DA-EAA63CC19BAB}" dt="2025-07-31T08:06:06.566" v="1478" actId="20577"/>
          <ac:spMkLst>
            <pc:docMk/>
            <pc:sldMk cId="363920370" sldId="256"/>
            <ac:spMk id="3" creationId="{00000000-0000-0000-0000-000000000000}"/>
          </ac:spMkLst>
        </pc:spChg>
      </pc:sldChg>
      <pc:sldChg chg="modSp mod">
        <pc:chgData name="anjalimishra.am111@gmail.com" userId="98924a2674df745c" providerId="LiveId" clId="{08926A43-E694-45C1-93DA-EAA63CC19BAB}" dt="2025-07-31T08:06:58.868" v="1481" actId="27636"/>
        <pc:sldMkLst>
          <pc:docMk/>
          <pc:sldMk cId="4103309497" sldId="257"/>
        </pc:sldMkLst>
        <pc:spChg chg="mod">
          <ac:chgData name="anjalimishra.am111@gmail.com" userId="98924a2674df745c" providerId="LiveId" clId="{08926A43-E694-45C1-93DA-EAA63CC19BAB}" dt="2025-07-31T07:31:45.093" v="1163" actId="2711"/>
          <ac:spMkLst>
            <pc:docMk/>
            <pc:sldMk cId="4103309497" sldId="257"/>
            <ac:spMk id="2" creationId="{00000000-0000-0000-0000-000000000000}"/>
          </ac:spMkLst>
        </pc:spChg>
        <pc:spChg chg="mod">
          <ac:chgData name="anjalimishra.am111@gmail.com" userId="98924a2674df745c" providerId="LiveId" clId="{08926A43-E694-45C1-93DA-EAA63CC19BAB}" dt="2025-07-31T08:06:58.868" v="1481" actId="27636"/>
          <ac:spMkLst>
            <pc:docMk/>
            <pc:sldMk cId="4103309497" sldId="257"/>
            <ac:spMk id="3" creationId="{00000000-0000-0000-0000-000000000000}"/>
          </ac:spMkLst>
        </pc:spChg>
      </pc:sldChg>
      <pc:sldChg chg="modSp mod">
        <pc:chgData name="anjalimishra.am111@gmail.com" userId="98924a2674df745c" providerId="LiveId" clId="{08926A43-E694-45C1-93DA-EAA63CC19BAB}" dt="2025-07-31T08:07:22.375" v="1484" actId="27636"/>
        <pc:sldMkLst>
          <pc:docMk/>
          <pc:sldMk cId="1101633878" sldId="259"/>
        </pc:sldMkLst>
        <pc:spChg chg="mod">
          <ac:chgData name="anjalimishra.am111@gmail.com" userId="98924a2674df745c" providerId="LiveId" clId="{08926A43-E694-45C1-93DA-EAA63CC19BAB}" dt="2025-07-31T07:31:32.687" v="1162" actId="2711"/>
          <ac:spMkLst>
            <pc:docMk/>
            <pc:sldMk cId="1101633878" sldId="259"/>
            <ac:spMk id="4" creationId="{00000000-0000-0000-0000-000000000000}"/>
          </ac:spMkLst>
        </pc:spChg>
        <pc:spChg chg="mod">
          <ac:chgData name="anjalimishra.am111@gmail.com" userId="98924a2674df745c" providerId="LiveId" clId="{08926A43-E694-45C1-93DA-EAA63CC19BAB}" dt="2025-07-31T08:07:22.375" v="1484" actId="27636"/>
          <ac:spMkLst>
            <pc:docMk/>
            <pc:sldMk cId="1101633878" sldId="259"/>
            <ac:spMk id="5" creationId="{00000000-0000-0000-0000-000000000000}"/>
          </ac:spMkLst>
        </pc:spChg>
      </pc:sldChg>
      <pc:sldChg chg="del">
        <pc:chgData name="anjalimishra.am111@gmail.com" userId="98924a2674df745c" providerId="LiveId" clId="{08926A43-E694-45C1-93DA-EAA63CC19BAB}" dt="2025-07-30T12:59:52.495" v="71" actId="2696"/>
        <pc:sldMkLst>
          <pc:docMk/>
          <pc:sldMk cId="109100692" sldId="260"/>
        </pc:sldMkLst>
      </pc:sldChg>
      <pc:sldChg chg="del">
        <pc:chgData name="anjalimishra.am111@gmail.com" userId="98924a2674df745c" providerId="LiveId" clId="{08926A43-E694-45C1-93DA-EAA63CC19BAB}" dt="2025-07-30T13:59:18.046" v="377" actId="2696"/>
        <pc:sldMkLst>
          <pc:docMk/>
          <pc:sldMk cId="2463575300" sldId="261"/>
        </pc:sldMkLst>
      </pc:sldChg>
      <pc:sldChg chg="modSp mod">
        <pc:chgData name="anjalimishra.am111@gmail.com" userId="98924a2674df745c" providerId="LiveId" clId="{08926A43-E694-45C1-93DA-EAA63CC19BAB}" dt="2025-07-30T12:56:13.214" v="69" actId="313"/>
        <pc:sldMkLst>
          <pc:docMk/>
          <pc:sldMk cId="2972414344" sldId="262"/>
        </pc:sldMkLst>
        <pc:spChg chg="mod">
          <ac:chgData name="anjalimishra.am111@gmail.com" userId="98924a2674df745c" providerId="LiveId" clId="{08926A43-E694-45C1-93DA-EAA63CC19BAB}" dt="2025-07-30T12:49:53.888" v="60" actId="20577"/>
          <ac:spMkLst>
            <pc:docMk/>
            <pc:sldMk cId="2972414344" sldId="262"/>
            <ac:spMk id="2" creationId="{1735AFD4-31CE-AC9A-C44B-2441699CF3A5}"/>
          </ac:spMkLst>
        </pc:spChg>
        <pc:spChg chg="mod">
          <ac:chgData name="anjalimishra.am111@gmail.com" userId="98924a2674df745c" providerId="LiveId" clId="{08926A43-E694-45C1-93DA-EAA63CC19BAB}" dt="2025-07-30T12:56:13.214" v="69" actId="313"/>
          <ac:spMkLst>
            <pc:docMk/>
            <pc:sldMk cId="2972414344" sldId="262"/>
            <ac:spMk id="4" creationId="{701069A1-E474-7005-A692-06345D58EB87}"/>
          </ac:spMkLst>
        </pc:spChg>
      </pc:sldChg>
      <pc:sldChg chg="modSp new mod">
        <pc:chgData name="anjalimishra.am111@gmail.com" userId="98924a2674df745c" providerId="LiveId" clId="{08926A43-E694-45C1-93DA-EAA63CC19BAB}" dt="2025-07-30T13:11:30.636" v="200" actId="20577"/>
        <pc:sldMkLst>
          <pc:docMk/>
          <pc:sldMk cId="1021629996" sldId="263"/>
        </pc:sldMkLst>
        <pc:spChg chg="mod">
          <ac:chgData name="anjalimishra.am111@gmail.com" userId="98924a2674df745c" providerId="LiveId" clId="{08926A43-E694-45C1-93DA-EAA63CC19BAB}" dt="2025-07-30T13:11:30.636" v="200" actId="20577"/>
          <ac:spMkLst>
            <pc:docMk/>
            <pc:sldMk cId="1021629996" sldId="263"/>
            <ac:spMk id="2" creationId="{445A3B39-5D51-42BE-33F6-A8700578D935}"/>
          </ac:spMkLst>
        </pc:spChg>
        <pc:spChg chg="mod">
          <ac:chgData name="anjalimishra.am111@gmail.com" userId="98924a2674df745c" providerId="LiveId" clId="{08926A43-E694-45C1-93DA-EAA63CC19BAB}" dt="2025-07-30T13:10:45.650" v="169" actId="5793"/>
          <ac:spMkLst>
            <pc:docMk/>
            <pc:sldMk cId="1021629996" sldId="263"/>
            <ac:spMk id="3" creationId="{99D402A7-3BC1-E9C2-2C17-5F922644DF12}"/>
          </ac:spMkLst>
        </pc:spChg>
      </pc:sldChg>
      <pc:sldChg chg="new del">
        <pc:chgData name="anjalimishra.am111@gmail.com" userId="98924a2674df745c" providerId="LiveId" clId="{08926A43-E694-45C1-93DA-EAA63CC19BAB}" dt="2025-07-30T13:12:10.020" v="203" actId="2696"/>
        <pc:sldMkLst>
          <pc:docMk/>
          <pc:sldMk cId="830400341" sldId="264"/>
        </pc:sldMkLst>
      </pc:sldChg>
      <pc:sldChg chg="addSp delSp modSp new del mod">
        <pc:chgData name="anjalimishra.am111@gmail.com" userId="98924a2674df745c" providerId="LiveId" clId="{08926A43-E694-45C1-93DA-EAA63CC19BAB}" dt="2025-07-30T13:14:20.507" v="238" actId="2696"/>
        <pc:sldMkLst>
          <pc:docMk/>
          <pc:sldMk cId="1142426213" sldId="265"/>
        </pc:sldMkLst>
        <pc:spChg chg="mod">
          <ac:chgData name="anjalimishra.am111@gmail.com" userId="98924a2674df745c" providerId="LiveId" clId="{08926A43-E694-45C1-93DA-EAA63CC19BAB}" dt="2025-07-30T13:12:47.898" v="233" actId="20577"/>
          <ac:spMkLst>
            <pc:docMk/>
            <pc:sldMk cId="1142426213" sldId="265"/>
            <ac:spMk id="2" creationId="{0EE837A7-43D0-5D0C-9258-0B2075009F3F}"/>
          </ac:spMkLst>
        </pc:spChg>
        <pc:spChg chg="add del mod">
          <ac:chgData name="anjalimishra.am111@gmail.com" userId="98924a2674df745c" providerId="LiveId" clId="{08926A43-E694-45C1-93DA-EAA63CC19BAB}" dt="2025-07-30T13:13:56.365" v="236" actId="478"/>
          <ac:spMkLst>
            <pc:docMk/>
            <pc:sldMk cId="1142426213" sldId="265"/>
            <ac:spMk id="4" creationId="{843D2ACE-8582-26B7-4E53-B42FE363D2AE}"/>
          </ac:spMkLst>
        </pc:spChg>
      </pc:sldChg>
      <pc:sldChg chg="modSp new mod chgLayout">
        <pc:chgData name="anjalimishra.am111@gmail.com" userId="98924a2674df745c" providerId="LiveId" clId="{08926A43-E694-45C1-93DA-EAA63CC19BAB}" dt="2025-07-31T07:48:08.690" v="1233" actId="700"/>
        <pc:sldMkLst>
          <pc:docMk/>
          <pc:sldMk cId="3149432834" sldId="266"/>
        </pc:sldMkLst>
        <pc:spChg chg="mod ord">
          <ac:chgData name="anjalimishra.am111@gmail.com" userId="98924a2674df745c" providerId="LiveId" clId="{08926A43-E694-45C1-93DA-EAA63CC19BAB}" dt="2025-07-31T07:48:08.690" v="1233" actId="700"/>
          <ac:spMkLst>
            <pc:docMk/>
            <pc:sldMk cId="3149432834" sldId="266"/>
            <ac:spMk id="2" creationId="{D365DD0F-B4E3-1261-4925-5D2256454BBA}"/>
          </ac:spMkLst>
        </pc:spChg>
        <pc:spChg chg="mod ord">
          <ac:chgData name="anjalimishra.am111@gmail.com" userId="98924a2674df745c" providerId="LiveId" clId="{08926A43-E694-45C1-93DA-EAA63CC19BAB}" dt="2025-07-31T07:48:08.690" v="1233" actId="700"/>
          <ac:spMkLst>
            <pc:docMk/>
            <pc:sldMk cId="3149432834" sldId="266"/>
            <ac:spMk id="3" creationId="{B6E96FFF-9BE7-E464-8F73-FABA126FCAAC}"/>
          </ac:spMkLst>
        </pc:spChg>
      </pc:sldChg>
      <pc:sldChg chg="modSp new mod">
        <pc:chgData name="anjalimishra.am111@gmail.com" userId="98924a2674df745c" providerId="LiveId" clId="{08926A43-E694-45C1-93DA-EAA63CC19BAB}" dt="2025-07-30T14:19:26.605" v="852" actId="12"/>
        <pc:sldMkLst>
          <pc:docMk/>
          <pc:sldMk cId="1173865188" sldId="267"/>
        </pc:sldMkLst>
        <pc:spChg chg="mod">
          <ac:chgData name="anjalimishra.am111@gmail.com" userId="98924a2674df745c" providerId="LiveId" clId="{08926A43-E694-45C1-93DA-EAA63CC19BAB}" dt="2025-07-30T14:17:58.030" v="837" actId="20577"/>
          <ac:spMkLst>
            <pc:docMk/>
            <pc:sldMk cId="1173865188" sldId="267"/>
            <ac:spMk id="2" creationId="{77547572-6093-B8D3-1AEF-4A444DC39ADA}"/>
          </ac:spMkLst>
        </pc:spChg>
        <pc:spChg chg="mod">
          <ac:chgData name="anjalimishra.am111@gmail.com" userId="98924a2674df745c" providerId="LiveId" clId="{08926A43-E694-45C1-93DA-EAA63CC19BAB}" dt="2025-07-30T14:18:43.495" v="845" actId="20577"/>
          <ac:spMkLst>
            <pc:docMk/>
            <pc:sldMk cId="1173865188" sldId="267"/>
            <ac:spMk id="3" creationId="{4025F712-ACA0-DC26-E608-CE77A990D843}"/>
          </ac:spMkLst>
        </pc:spChg>
        <pc:spChg chg="mod">
          <ac:chgData name="anjalimishra.am111@gmail.com" userId="98924a2674df745c" providerId="LiveId" clId="{08926A43-E694-45C1-93DA-EAA63CC19BAB}" dt="2025-07-30T14:19:26.605" v="852" actId="12"/>
          <ac:spMkLst>
            <pc:docMk/>
            <pc:sldMk cId="1173865188" sldId="267"/>
            <ac:spMk id="4" creationId="{1D9D5172-D170-C903-2D22-A6971A4883CC}"/>
          </ac:spMkLst>
        </pc:spChg>
      </pc:sldChg>
      <pc:sldChg chg="addSp delSp modSp new mod setBg">
        <pc:chgData name="anjalimishra.am111@gmail.com" userId="98924a2674df745c" providerId="LiveId" clId="{08926A43-E694-45C1-93DA-EAA63CC19BAB}" dt="2025-07-31T07:40:07.985" v="1223" actId="108"/>
        <pc:sldMkLst>
          <pc:docMk/>
          <pc:sldMk cId="1326167361" sldId="268"/>
        </pc:sldMkLst>
        <pc:spChg chg="mod">
          <ac:chgData name="anjalimishra.am111@gmail.com" userId="98924a2674df745c" providerId="LiveId" clId="{08926A43-E694-45C1-93DA-EAA63CC19BAB}" dt="2025-07-30T16:09:29.206" v="959" actId="2711"/>
          <ac:spMkLst>
            <pc:docMk/>
            <pc:sldMk cId="1326167361" sldId="268"/>
            <ac:spMk id="2" creationId="{4FB3379F-AF38-0105-B74C-7E45A1FA26ED}"/>
          </ac:spMkLst>
        </pc:spChg>
        <pc:spChg chg="del">
          <ac:chgData name="anjalimishra.am111@gmail.com" userId="98924a2674df745c" providerId="LiveId" clId="{08926A43-E694-45C1-93DA-EAA63CC19BAB}" dt="2025-07-30T15:55:38.518" v="854" actId="931"/>
          <ac:spMkLst>
            <pc:docMk/>
            <pc:sldMk cId="1326167361" sldId="268"/>
            <ac:spMk id="3" creationId="{9D2B0BC3-9E8C-4730-8ED7-5D280A4E5C6B}"/>
          </ac:spMkLst>
        </pc:spChg>
        <pc:picChg chg="add mod">
          <ac:chgData name="anjalimishra.am111@gmail.com" userId="98924a2674df745c" providerId="LiveId" clId="{08926A43-E694-45C1-93DA-EAA63CC19BAB}" dt="2025-07-31T07:40:07.985" v="1223" actId="108"/>
          <ac:picMkLst>
            <pc:docMk/>
            <pc:sldMk cId="1326167361" sldId="268"/>
            <ac:picMk id="5" creationId="{7DE1D510-A0BA-28C4-8BAA-1E12BC738B11}"/>
          </ac:picMkLst>
        </pc:picChg>
        <pc:picChg chg="add mod">
          <ac:chgData name="anjalimishra.am111@gmail.com" userId="98924a2674df745c" providerId="LiveId" clId="{08926A43-E694-45C1-93DA-EAA63CC19BAB}" dt="2025-07-31T07:40:04.460" v="1222" actId="108"/>
          <ac:picMkLst>
            <pc:docMk/>
            <pc:sldMk cId="1326167361" sldId="268"/>
            <ac:picMk id="7" creationId="{82304FA3-87DF-CBA3-58C4-930742D95F70}"/>
          </ac:picMkLst>
        </pc:picChg>
        <pc:picChg chg="add mod">
          <ac:chgData name="anjalimishra.am111@gmail.com" userId="98924a2674df745c" providerId="LiveId" clId="{08926A43-E694-45C1-93DA-EAA63CC19BAB}" dt="2025-07-31T07:39:59.170" v="1221" actId="108"/>
          <ac:picMkLst>
            <pc:docMk/>
            <pc:sldMk cId="1326167361" sldId="268"/>
            <ac:picMk id="9" creationId="{4E18CCC6-6905-97F9-6D2B-ECD4DA30E720}"/>
          </ac:picMkLst>
        </pc:picChg>
        <pc:picChg chg="add mod">
          <ac:chgData name="anjalimishra.am111@gmail.com" userId="98924a2674df745c" providerId="LiveId" clId="{08926A43-E694-45C1-93DA-EAA63CC19BAB}" dt="2025-07-31T07:39:45.498" v="1220" actId="692"/>
          <ac:picMkLst>
            <pc:docMk/>
            <pc:sldMk cId="1326167361" sldId="268"/>
            <ac:picMk id="11" creationId="{CED8C629-E984-3CE2-3BB9-E45B96C7EC7D}"/>
          </ac:picMkLst>
        </pc:picChg>
        <pc:picChg chg="add mod">
          <ac:chgData name="anjalimishra.am111@gmail.com" userId="98924a2674df745c" providerId="LiveId" clId="{08926A43-E694-45C1-93DA-EAA63CC19BAB}" dt="2025-07-30T16:02:25.420" v="905" actId="14100"/>
          <ac:picMkLst>
            <pc:docMk/>
            <pc:sldMk cId="1326167361" sldId="268"/>
            <ac:picMk id="13" creationId="{8830C93A-E921-6E63-C342-073CB9FCA649}"/>
          </ac:picMkLst>
        </pc:picChg>
        <pc:picChg chg="add mod">
          <ac:chgData name="anjalimishra.am111@gmail.com" userId="98924a2674df745c" providerId="LiveId" clId="{08926A43-E694-45C1-93DA-EAA63CC19BAB}" dt="2025-07-30T16:06:39.353" v="910" actId="1076"/>
          <ac:picMkLst>
            <pc:docMk/>
            <pc:sldMk cId="1326167361" sldId="268"/>
            <ac:picMk id="15" creationId="{02E9EA51-3323-4DC9-E4D5-9BFDAE423716}"/>
          </ac:picMkLst>
        </pc:picChg>
        <pc:picChg chg="add mod">
          <ac:chgData name="anjalimishra.am111@gmail.com" userId="98924a2674df745c" providerId="LiveId" clId="{08926A43-E694-45C1-93DA-EAA63CC19BAB}" dt="2025-07-30T16:07:40.738" v="916" actId="1076"/>
          <ac:picMkLst>
            <pc:docMk/>
            <pc:sldMk cId="1326167361" sldId="268"/>
            <ac:picMk id="17" creationId="{D769F2C0-1056-B0CF-FEBC-6BAB652814E0}"/>
          </ac:picMkLst>
        </pc:picChg>
      </pc:sldChg>
      <pc:sldChg chg="new del">
        <pc:chgData name="anjalimishra.am111@gmail.com" userId="98924a2674df745c" providerId="LiveId" clId="{08926A43-E694-45C1-93DA-EAA63CC19BAB}" dt="2025-07-30T16:10:59.923" v="963" actId="2696"/>
        <pc:sldMkLst>
          <pc:docMk/>
          <pc:sldMk cId="588200185" sldId="269"/>
        </pc:sldMkLst>
      </pc:sldChg>
      <pc:sldChg chg="addSp delSp modSp new mod">
        <pc:chgData name="anjalimishra.am111@gmail.com" userId="98924a2674df745c" providerId="LiveId" clId="{08926A43-E694-45C1-93DA-EAA63CC19BAB}" dt="2025-07-31T07:40:28.344" v="1225" actId="108"/>
        <pc:sldMkLst>
          <pc:docMk/>
          <pc:sldMk cId="3811695749" sldId="269"/>
        </pc:sldMkLst>
        <pc:spChg chg="mod">
          <ac:chgData name="anjalimishra.am111@gmail.com" userId="98924a2674df745c" providerId="LiveId" clId="{08926A43-E694-45C1-93DA-EAA63CC19BAB}" dt="2025-07-30T16:33:34.969" v="1078" actId="2711"/>
          <ac:spMkLst>
            <pc:docMk/>
            <pc:sldMk cId="3811695749" sldId="269"/>
            <ac:spMk id="2" creationId="{6A7F3256-1FCC-9B94-4A8C-A93A01B6A42B}"/>
          </ac:spMkLst>
        </pc:spChg>
        <pc:picChg chg="add del mod">
          <ac:chgData name="anjalimishra.am111@gmail.com" userId="98924a2674df745c" providerId="LiveId" clId="{08926A43-E694-45C1-93DA-EAA63CC19BAB}" dt="2025-07-30T16:29:06.996" v="1029" actId="478"/>
          <ac:picMkLst>
            <pc:docMk/>
            <pc:sldMk cId="3811695749" sldId="269"/>
            <ac:picMk id="4" creationId="{4A45D625-81F9-3666-8C32-EE0D89AF4864}"/>
          </ac:picMkLst>
        </pc:picChg>
        <pc:picChg chg="add del mod">
          <ac:chgData name="anjalimishra.am111@gmail.com" userId="98924a2674df745c" providerId="LiveId" clId="{08926A43-E694-45C1-93DA-EAA63CC19BAB}" dt="2025-07-30T16:28:05.455" v="1021" actId="478"/>
          <ac:picMkLst>
            <pc:docMk/>
            <pc:sldMk cId="3811695749" sldId="269"/>
            <ac:picMk id="6" creationId="{A6D06091-FDA3-5CB8-7C16-573819CD85C3}"/>
          </ac:picMkLst>
        </pc:picChg>
        <pc:picChg chg="add del mod">
          <ac:chgData name="anjalimishra.am111@gmail.com" userId="98924a2674df745c" providerId="LiveId" clId="{08926A43-E694-45C1-93DA-EAA63CC19BAB}" dt="2025-07-30T16:27:47.342" v="1018" actId="478"/>
          <ac:picMkLst>
            <pc:docMk/>
            <pc:sldMk cId="3811695749" sldId="269"/>
            <ac:picMk id="8" creationId="{C336EBEA-113B-D683-1DD3-987B1CEDE1BB}"/>
          </ac:picMkLst>
        </pc:picChg>
        <pc:picChg chg="add del mod">
          <ac:chgData name="anjalimishra.am111@gmail.com" userId="98924a2674df745c" providerId="LiveId" clId="{08926A43-E694-45C1-93DA-EAA63CC19BAB}" dt="2025-07-30T16:27:17.303" v="1015" actId="478"/>
          <ac:picMkLst>
            <pc:docMk/>
            <pc:sldMk cId="3811695749" sldId="269"/>
            <ac:picMk id="10" creationId="{4CCC8C0E-6D93-1130-9A11-5890EBB734FA}"/>
          </ac:picMkLst>
        </pc:picChg>
        <pc:picChg chg="add mod">
          <ac:chgData name="anjalimishra.am111@gmail.com" userId="98924a2674df745c" providerId="LiveId" clId="{08926A43-E694-45C1-93DA-EAA63CC19BAB}" dt="2025-07-31T07:40:22.994" v="1224" actId="108"/>
          <ac:picMkLst>
            <pc:docMk/>
            <pc:sldMk cId="3811695749" sldId="269"/>
            <ac:picMk id="12" creationId="{6A0DEF17-B873-4AFD-1508-B2A13FC47FD5}"/>
          </ac:picMkLst>
        </pc:picChg>
        <pc:picChg chg="add mod">
          <ac:chgData name="anjalimishra.am111@gmail.com" userId="98924a2674df745c" providerId="LiveId" clId="{08926A43-E694-45C1-93DA-EAA63CC19BAB}" dt="2025-07-31T07:40:28.344" v="1225" actId="108"/>
          <ac:picMkLst>
            <pc:docMk/>
            <pc:sldMk cId="3811695749" sldId="269"/>
            <ac:picMk id="13" creationId="{E1589246-BEF8-5E26-3750-A74A623227B9}"/>
          </ac:picMkLst>
        </pc:picChg>
      </pc:sldChg>
      <pc:sldChg chg="addSp delSp modSp new mod">
        <pc:chgData name="anjalimishra.am111@gmail.com" userId="98924a2674df745c" providerId="LiveId" clId="{08926A43-E694-45C1-93DA-EAA63CC19BAB}" dt="2025-07-31T07:41:23.743" v="1228" actId="108"/>
        <pc:sldMkLst>
          <pc:docMk/>
          <pc:sldMk cId="1415667866" sldId="270"/>
        </pc:sldMkLst>
        <pc:picChg chg="add mod">
          <ac:chgData name="anjalimishra.am111@gmail.com" userId="98924a2674df745c" providerId="LiveId" clId="{08926A43-E694-45C1-93DA-EAA63CC19BAB}" dt="2025-07-31T07:41:16.030" v="1226" actId="108"/>
          <ac:picMkLst>
            <pc:docMk/>
            <pc:sldMk cId="1415667866" sldId="270"/>
            <ac:picMk id="2" creationId="{0C9CCA27-C991-330F-8F00-BA27A5BA886E}"/>
          </ac:picMkLst>
        </pc:picChg>
        <pc:picChg chg="add del mod">
          <ac:chgData name="anjalimishra.am111@gmail.com" userId="98924a2674df745c" providerId="LiveId" clId="{08926A43-E694-45C1-93DA-EAA63CC19BAB}" dt="2025-07-30T16:31:20.493" v="1040" actId="478"/>
          <ac:picMkLst>
            <pc:docMk/>
            <pc:sldMk cId="1415667866" sldId="270"/>
            <ac:picMk id="3" creationId="{AB22B09B-E626-EE22-6A7E-FE072BF1C0A5}"/>
          </ac:picMkLst>
        </pc:picChg>
        <pc:picChg chg="add mod">
          <ac:chgData name="anjalimishra.am111@gmail.com" userId="98924a2674df745c" providerId="LiveId" clId="{08926A43-E694-45C1-93DA-EAA63CC19BAB}" dt="2025-07-31T07:41:19.815" v="1227" actId="108"/>
          <ac:picMkLst>
            <pc:docMk/>
            <pc:sldMk cId="1415667866" sldId="270"/>
            <ac:picMk id="4" creationId="{99F3B1D3-7AFF-42E2-34CF-ED0E90548B9A}"/>
          </ac:picMkLst>
        </pc:picChg>
        <pc:picChg chg="add mod">
          <ac:chgData name="anjalimishra.am111@gmail.com" userId="98924a2674df745c" providerId="LiveId" clId="{08926A43-E694-45C1-93DA-EAA63CC19BAB}" dt="2025-07-31T07:41:23.743" v="1228" actId="108"/>
          <ac:picMkLst>
            <pc:docMk/>
            <pc:sldMk cId="1415667866" sldId="270"/>
            <ac:picMk id="5" creationId="{CFB16EC0-10C3-42BD-5BFA-5487D4EF6BE6}"/>
          </ac:picMkLst>
        </pc:picChg>
      </pc:sldChg>
      <pc:sldChg chg="addSp delSp modSp new mod">
        <pc:chgData name="anjalimishra.am111@gmail.com" userId="98924a2674df745c" providerId="LiveId" clId="{08926A43-E694-45C1-93DA-EAA63CC19BAB}" dt="2025-07-30T16:47:42.456" v="1161" actId="20577"/>
        <pc:sldMkLst>
          <pc:docMk/>
          <pc:sldMk cId="3068296015" sldId="271"/>
        </pc:sldMkLst>
        <pc:spChg chg="mod">
          <ac:chgData name="anjalimishra.am111@gmail.com" userId="98924a2674df745c" providerId="LiveId" clId="{08926A43-E694-45C1-93DA-EAA63CC19BAB}" dt="2025-07-30T16:43:08.524" v="1088" actId="20577"/>
          <ac:spMkLst>
            <pc:docMk/>
            <pc:sldMk cId="3068296015" sldId="271"/>
            <ac:spMk id="2" creationId="{2015F257-C7DC-23A5-4343-DA5BB45D7E8B}"/>
          </ac:spMkLst>
        </pc:spChg>
        <pc:spChg chg="del mod">
          <ac:chgData name="anjalimishra.am111@gmail.com" userId="98924a2674df745c" providerId="LiveId" clId="{08926A43-E694-45C1-93DA-EAA63CC19BAB}" dt="2025-07-30T16:43:15.230" v="1090"/>
          <ac:spMkLst>
            <pc:docMk/>
            <pc:sldMk cId="3068296015" sldId="271"/>
            <ac:spMk id="3" creationId="{F80D140A-AE3A-FFBA-2AB0-25F30696284C}"/>
          </ac:spMkLst>
        </pc:spChg>
        <pc:spChg chg="add mod">
          <ac:chgData name="anjalimishra.am111@gmail.com" userId="98924a2674df745c" providerId="LiveId" clId="{08926A43-E694-45C1-93DA-EAA63CC19BAB}" dt="2025-07-30T16:47:42.456" v="1161" actId="20577"/>
          <ac:spMkLst>
            <pc:docMk/>
            <pc:sldMk cId="3068296015" sldId="271"/>
            <ac:spMk id="6" creationId="{9EF71C36-86E5-3FBE-2534-674253EC45A5}"/>
          </ac:spMkLst>
        </pc:spChg>
        <pc:picChg chg="add del mod">
          <ac:chgData name="anjalimishra.am111@gmail.com" userId="98924a2674df745c" providerId="LiveId" clId="{08926A43-E694-45C1-93DA-EAA63CC19BAB}" dt="2025-07-30T16:43:17.342" v="1091" actId="478"/>
          <ac:picMkLst>
            <pc:docMk/>
            <pc:sldMk cId="3068296015" sldId="271"/>
            <ac:picMk id="4" creationId="{AF49529C-CD81-3B1E-15BE-0B080F11F1A3}"/>
          </ac:picMkLst>
        </pc:picChg>
      </pc:sldChg>
      <pc:sldChg chg="new add del">
        <pc:chgData name="anjalimishra.am111@gmail.com" userId="98924a2674df745c" providerId="LiveId" clId="{08926A43-E694-45C1-93DA-EAA63CC19BAB}" dt="2025-07-31T07:48:18.623" v="1235" actId="47"/>
        <pc:sldMkLst>
          <pc:docMk/>
          <pc:sldMk cId="2353395396" sldId="272"/>
        </pc:sldMkLst>
      </pc:sldChg>
      <pc:sldChg chg="modSp new mod">
        <pc:chgData name="anjalimishra.am111@gmail.com" userId="98924a2674df745c" providerId="LiveId" clId="{08926A43-E694-45C1-93DA-EAA63CC19BAB}" dt="2025-07-31T07:52:15.113" v="1287" actId="2711"/>
        <pc:sldMkLst>
          <pc:docMk/>
          <pc:sldMk cId="3345619022" sldId="272"/>
        </pc:sldMkLst>
        <pc:spChg chg="mod">
          <ac:chgData name="anjalimishra.am111@gmail.com" userId="98924a2674df745c" providerId="LiveId" clId="{08926A43-E694-45C1-93DA-EAA63CC19BAB}" dt="2025-07-31T07:49:03.843" v="1277" actId="20577"/>
          <ac:spMkLst>
            <pc:docMk/>
            <pc:sldMk cId="3345619022" sldId="272"/>
            <ac:spMk id="2" creationId="{26AB5C7D-1CCE-0344-A3A4-13BBDA3926B7}"/>
          </ac:spMkLst>
        </pc:spChg>
        <pc:spChg chg="mod">
          <ac:chgData name="anjalimishra.am111@gmail.com" userId="98924a2674df745c" providerId="LiveId" clId="{08926A43-E694-45C1-93DA-EAA63CC19BAB}" dt="2025-07-31T07:52:15.113" v="1287" actId="2711"/>
          <ac:spMkLst>
            <pc:docMk/>
            <pc:sldMk cId="3345619022" sldId="272"/>
            <ac:spMk id="3" creationId="{0C5B1580-FBF2-94E6-CF7D-7D5165CF010D}"/>
          </ac:spMkLst>
        </pc:spChg>
      </pc:sldChg>
      <pc:sldChg chg="addSp modSp new mod">
        <pc:chgData name="anjalimishra.am111@gmail.com" userId="98924a2674df745c" providerId="LiveId" clId="{08926A43-E694-45C1-93DA-EAA63CC19BAB}" dt="2025-07-31T07:56:27.652" v="1334" actId="2711"/>
        <pc:sldMkLst>
          <pc:docMk/>
          <pc:sldMk cId="1447346072" sldId="273"/>
        </pc:sldMkLst>
        <pc:spChg chg="mod">
          <ac:chgData name="anjalimishra.am111@gmail.com" userId="98924a2674df745c" providerId="LiveId" clId="{08926A43-E694-45C1-93DA-EAA63CC19BAB}" dt="2025-07-31T07:53:27.590" v="1322" actId="20577"/>
          <ac:spMkLst>
            <pc:docMk/>
            <pc:sldMk cId="1447346072" sldId="273"/>
            <ac:spMk id="2" creationId="{D0268FA4-BC72-F243-5457-B69A8F40417E}"/>
          </ac:spMkLst>
        </pc:spChg>
        <pc:spChg chg="add mod">
          <ac:chgData name="anjalimishra.am111@gmail.com" userId="98924a2674df745c" providerId="LiveId" clId="{08926A43-E694-45C1-93DA-EAA63CC19BAB}" dt="2025-07-31T07:56:27.652" v="1334" actId="2711"/>
          <ac:spMkLst>
            <pc:docMk/>
            <pc:sldMk cId="1447346072" sldId="273"/>
            <ac:spMk id="4" creationId="{43EA0452-01EA-782C-2CF6-A9F4860CD5EB}"/>
          </ac:spMkLst>
        </pc:spChg>
      </pc:sldChg>
      <pc:sldChg chg="addSp modSp new mod">
        <pc:chgData name="anjalimishra.am111@gmail.com" userId="98924a2674df745c" providerId="LiveId" clId="{08926A43-E694-45C1-93DA-EAA63CC19BAB}" dt="2025-07-31T07:59:02.860" v="1358" actId="2711"/>
        <pc:sldMkLst>
          <pc:docMk/>
          <pc:sldMk cId="498318496" sldId="274"/>
        </pc:sldMkLst>
        <pc:spChg chg="mod">
          <ac:chgData name="anjalimishra.am111@gmail.com" userId="98924a2674df745c" providerId="LiveId" clId="{08926A43-E694-45C1-93DA-EAA63CC19BAB}" dt="2025-07-31T07:57:18.937" v="1349" actId="20577"/>
          <ac:spMkLst>
            <pc:docMk/>
            <pc:sldMk cId="498318496" sldId="274"/>
            <ac:spMk id="2" creationId="{2CEE198E-B3AC-F715-590C-B72586B5243A}"/>
          </ac:spMkLst>
        </pc:spChg>
        <pc:spChg chg="add mod">
          <ac:chgData name="anjalimishra.am111@gmail.com" userId="98924a2674df745c" providerId="LiveId" clId="{08926A43-E694-45C1-93DA-EAA63CC19BAB}" dt="2025-07-31T07:59:02.860" v="1358" actId="2711"/>
          <ac:spMkLst>
            <pc:docMk/>
            <pc:sldMk cId="498318496" sldId="274"/>
            <ac:spMk id="4" creationId="{EAEA7B22-403B-7AED-B56A-A7F9C449A270}"/>
          </ac:spMkLst>
        </pc:spChg>
      </pc:sldChg>
      <pc:sldChg chg="modSp new mod">
        <pc:chgData name="anjalimishra.am111@gmail.com" userId="98924a2674df745c" providerId="LiveId" clId="{08926A43-E694-45C1-93DA-EAA63CC19BAB}" dt="2025-07-31T08:01:35.094" v="1385" actId="12"/>
        <pc:sldMkLst>
          <pc:docMk/>
          <pc:sldMk cId="2529277075" sldId="275"/>
        </pc:sldMkLst>
        <pc:spChg chg="mod">
          <ac:chgData name="anjalimishra.am111@gmail.com" userId="98924a2674df745c" providerId="LiveId" clId="{08926A43-E694-45C1-93DA-EAA63CC19BAB}" dt="2025-07-31T07:59:37.869" v="1374" actId="20577"/>
          <ac:spMkLst>
            <pc:docMk/>
            <pc:sldMk cId="2529277075" sldId="275"/>
            <ac:spMk id="2" creationId="{72B6E69B-2BAA-EFBF-7778-8BEE562AB018}"/>
          </ac:spMkLst>
        </pc:spChg>
        <pc:spChg chg="mod">
          <ac:chgData name="anjalimishra.am111@gmail.com" userId="98924a2674df745c" providerId="LiveId" clId="{08926A43-E694-45C1-93DA-EAA63CC19BAB}" dt="2025-07-31T08:01:35.094" v="1385" actId="12"/>
          <ac:spMkLst>
            <pc:docMk/>
            <pc:sldMk cId="2529277075" sldId="275"/>
            <ac:spMk id="3" creationId="{DB17FB48-9D30-B7F6-40C2-45AD7CC92DB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A7B76C-F787-49D0-9104-7559F9160E79}" type="datetimeFigureOut">
              <a:rPr lang="en-US" smtClean="0"/>
              <a:t>7/31/2025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44954D-A40A-416C-A744-2ADE1AF39E5F}" type="slidenum">
              <a:rPr lang="en-US" smtClean="0"/>
              <a:t>‹#›</a:t>
            </a:fld>
            <a:endParaRPr lang="en-US"/>
          </a:p>
        </p:txBody>
      </p:sp>
    </p:spTree>
    <p:extLst>
      <p:ext uri="{BB962C8B-B14F-4D97-AF65-F5344CB8AC3E}">
        <p14:creationId xmlns:p14="http://schemas.microsoft.com/office/powerpoint/2010/main" val="2661626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07080" y="1808225"/>
            <a:ext cx="7940660" cy="1374345"/>
          </a:xfrm>
          <a:noFill/>
          <a:effectLst>
            <a:outerShdw blurRad="50800" dist="38100" dir="2700000" algn="tl" rotWithShape="0">
              <a:prstClr val="black">
                <a:alpha val="40000"/>
              </a:prstClr>
            </a:outerShdw>
          </a:effectLst>
        </p:spPr>
        <p:txBody>
          <a:bodyPr>
            <a:normAutofit/>
          </a:bodyPr>
          <a:lstStyle>
            <a:lvl1pPr algn="r">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907080" y="3793390"/>
            <a:ext cx="7940481" cy="610820"/>
          </a:xfrm>
        </p:spPr>
        <p:txBody>
          <a:bodyPr>
            <a:normAutofit/>
          </a:bodyPr>
          <a:lstStyle>
            <a:lvl1pPr marL="0" indent="0" algn="r">
              <a:buNone/>
              <a:defRPr sz="2800" b="0" i="0">
                <a:solidFill>
                  <a:srgbClr val="FF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7/31/2025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8965" y="281175"/>
            <a:ext cx="8246070" cy="916230"/>
          </a:xfrm>
        </p:spPr>
        <p:txBody>
          <a:bodyPr>
            <a:normAutofit/>
          </a:bodyPr>
          <a:lstStyle>
            <a:lvl1pPr algn="r">
              <a:defRPr sz="3600" baseline="0">
                <a:solidFill>
                  <a:srgbClr val="FF000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48966" y="1350110"/>
            <a:ext cx="8246070" cy="3512212"/>
          </a:xfrm>
        </p:spPr>
        <p:txBody>
          <a:bodyPr/>
          <a:lstStyle>
            <a:lvl1pPr algn="l">
              <a:defRPr sz="2800">
                <a:solidFill>
                  <a:schemeClr val="bg1"/>
                </a:solidFill>
              </a:defRPr>
            </a:lvl1pPr>
            <a:lvl2pPr algn="l">
              <a:defRPr>
                <a:solidFill>
                  <a:schemeClr val="bg1"/>
                </a:solidFill>
              </a:defRPr>
            </a:lvl2pPr>
            <a:lvl3pPr algn="l">
              <a:defRPr>
                <a:solidFill>
                  <a:schemeClr val="bg1"/>
                </a:solidFill>
              </a:defRPr>
            </a:lvl3pPr>
            <a:lvl4pPr algn="l">
              <a:defRPr>
                <a:solidFill>
                  <a:schemeClr val="bg1"/>
                </a:solidFill>
              </a:defRPr>
            </a:lvl4pPr>
            <a:lvl5pPr algn="l">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7/31/2025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81425" y="433880"/>
            <a:ext cx="6566315" cy="572644"/>
          </a:xfrm>
        </p:spPr>
        <p:txBody>
          <a:bodyPr>
            <a:normAutofit/>
          </a:bodyPr>
          <a:lstStyle>
            <a:lvl1pPr algn="l">
              <a:defRPr sz="3600">
                <a:solidFill>
                  <a:srgbClr val="FF000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2281425" y="1044700"/>
            <a:ext cx="6566315" cy="3511061"/>
          </a:xfrm>
        </p:spPr>
        <p:txBody>
          <a:bodyPr/>
          <a:lstStyle>
            <a:lvl1pPr>
              <a:defRPr sz="28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7/31/2025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7/31/2025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7/31/2025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1670" y="281175"/>
            <a:ext cx="7940659" cy="763525"/>
          </a:xfrm>
        </p:spPr>
        <p:txBody>
          <a:bodyPr>
            <a:normAutofit/>
          </a:bodyPr>
          <a:lstStyle>
            <a:lvl1pPr algn="r">
              <a:defRPr sz="3600" baseline="0">
                <a:solidFill>
                  <a:srgbClr val="FF000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36879" y="1808225"/>
            <a:ext cx="4040188" cy="479822"/>
          </a:xfrm>
        </p:spPr>
        <p:txBody>
          <a:bodyPr anchor="b"/>
          <a:lstStyle>
            <a:lvl1pPr marL="0" indent="0" algn="ctr">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36879" y="2288046"/>
            <a:ext cx="4040188" cy="2137871"/>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72000" y="1808225"/>
            <a:ext cx="4041775" cy="479822"/>
          </a:xfrm>
        </p:spPr>
        <p:txBody>
          <a:bodyPr anchor="b"/>
          <a:lstStyle>
            <a:lvl1pPr marL="0" indent="0" algn="ctr">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72000" y="2288046"/>
            <a:ext cx="4041775" cy="2137871"/>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7/31/2025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7/31/2025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7/31/2025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7/31/2025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7/31/2025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7/31/2025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7/31/2025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a16="http://schemas.microsoft.com/office/drawing/2014/main" id="{176495BC-6165-4D9E-84F1-1B380BD3ADE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918306"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7/31/2025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
        <p:nvSpPr>
          <p:cNvPr id="7" name="TextBox 6">
            <a:extLst>
              <a:ext uri="{FF2B5EF4-FFF2-40B4-BE49-F238E27FC236}">
                <a16:creationId xmlns:a16="http://schemas.microsoft.com/office/drawing/2014/main" id="{54E154FB-3404-4995-93A8-58289BE2A56B}"/>
              </a:ext>
            </a:extLst>
          </p:cNvPr>
          <p:cNvSpPr txBox="1"/>
          <p:nvPr userDrawn="1"/>
        </p:nvSpPr>
        <p:spPr>
          <a:xfrm>
            <a:off x="-9150" y="5213747"/>
            <a:ext cx="8389625" cy="523220"/>
          </a:xfrm>
          <a:prstGeom prst="rect">
            <a:avLst/>
          </a:prstGeom>
          <a:noFill/>
        </p:spPr>
        <p:txBody>
          <a:bodyPr wrap="square" rtlCol="0">
            <a:spAutoFit/>
          </a:bodyPr>
          <a:lstStyle/>
          <a:p>
            <a:r>
              <a:rPr lang="en-US" sz="1400">
                <a:solidFill>
                  <a:schemeClr val="bg1">
                    <a:lumMod val="65000"/>
                  </a:schemeClr>
                </a:solidFill>
              </a:rPr>
              <a:t>This presentation uses a free template provided by FPPT.com</a:t>
            </a:r>
          </a:p>
          <a:p>
            <a:r>
              <a:rPr lang="en-US" sz="1400">
                <a:solidFill>
                  <a:schemeClr val="bg1">
                    <a:lumMod val="65000"/>
                  </a:schemeClr>
                </a:solidFill>
              </a:rPr>
              <a:t>www.free-power-point-templates.com</a:t>
            </a:r>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14.png"/><Relationship Id="rId3" Type="http://schemas.microsoft.com/office/2007/relationships/hdphoto" Target="../media/hdphoto1.wdp"/><Relationship Id="rId7" Type="http://schemas.openxmlformats.org/officeDocument/2006/relationships/image" Target="../media/image9.png"/><Relationship Id="rId12" Type="http://schemas.openxmlformats.org/officeDocument/2006/relationships/image" Target="../media/image13.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2.png"/><Relationship Id="rId5" Type="http://schemas.openxmlformats.org/officeDocument/2006/relationships/image" Target="../media/image7.png"/><Relationship Id="rId10" Type="http://schemas.openxmlformats.org/officeDocument/2006/relationships/image" Target="../media/image11.svg"/><Relationship Id="rId4" Type="http://schemas.openxmlformats.org/officeDocument/2006/relationships/image" Target="../media/image6.png"/><Relationship Id="rId9" Type="http://schemas.openxmlformats.org/officeDocument/2006/relationships/image" Target="../media/image10.png"/><Relationship Id="rId14" Type="http://schemas.openxmlformats.org/officeDocument/2006/relationships/image" Target="../media/image15.sv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03340" y="1808225"/>
            <a:ext cx="7940660" cy="1374345"/>
          </a:xfrm>
        </p:spPr>
        <p:txBody>
          <a:bodyPr/>
          <a:lstStyle/>
          <a:p>
            <a:r>
              <a:rPr lang="en-US" dirty="0"/>
              <a:t> FLY EMIRATES PERFORMANCE</a:t>
            </a:r>
          </a:p>
        </p:txBody>
      </p:sp>
      <p:sp>
        <p:nvSpPr>
          <p:cNvPr id="3" name="Subtitle 2"/>
          <p:cNvSpPr>
            <a:spLocks noGrp="1"/>
          </p:cNvSpPr>
          <p:nvPr>
            <p:ph type="subTitle" idx="1"/>
          </p:nvPr>
        </p:nvSpPr>
        <p:spPr/>
        <p:txBody>
          <a:bodyPr/>
          <a:lstStyle/>
          <a:p>
            <a:r>
              <a:rPr lang="en-US" dirty="0"/>
              <a:t>PRESENTED BY:- ANJALI MISHRA</a:t>
            </a:r>
          </a:p>
        </p:txBody>
      </p:sp>
    </p:spTree>
    <p:extLst>
      <p:ext uri="{BB962C8B-B14F-4D97-AF65-F5344CB8AC3E}">
        <p14:creationId xmlns:p14="http://schemas.microsoft.com/office/powerpoint/2010/main" val="363920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Freestyle Script" panose="030804020302050B0404" pitchFamily="66" charset="0"/>
              </a:rPr>
              <a:t>INTRODUCTION</a:t>
            </a:r>
          </a:p>
        </p:txBody>
      </p:sp>
      <p:sp>
        <p:nvSpPr>
          <p:cNvPr id="3" name="Content Placeholder 2"/>
          <p:cNvSpPr>
            <a:spLocks noGrp="1"/>
          </p:cNvSpPr>
          <p:nvPr>
            <p:ph idx="1"/>
          </p:nvPr>
        </p:nvSpPr>
        <p:spPr/>
        <p:txBody>
          <a:bodyPr>
            <a:normAutofit fontScale="77500" lnSpcReduction="20000"/>
          </a:bodyPr>
          <a:lstStyle/>
          <a:p>
            <a:pPr marL="0" indent="0">
              <a:buNone/>
            </a:pPr>
            <a:endParaRPr lang="en-US" b="1" dirty="0"/>
          </a:p>
          <a:p>
            <a:pPr>
              <a:buFont typeface="Wingdings" panose="05000000000000000000" pitchFamily="2" charset="2"/>
              <a:buChar char="Ø"/>
            </a:pPr>
            <a:r>
              <a:rPr lang="en-US" dirty="0">
                <a:latin typeface="Arial Narrow" panose="020B0606020202030204" pitchFamily="34" charset="0"/>
              </a:rPr>
              <a:t>Flight delays and cancellations are some of the most pressing challenges faced by the aviation industry today. They not only affect the operational efficiency of airlines but also lead to substantial financial losses and deteriorate the customer travel experience. Factors like adverse weather conditions, technical malfunctions, crew unavailability, airport congestion, and air traffic control delays contribute to schedule disruptions.</a:t>
            </a:r>
          </a:p>
          <a:p>
            <a:pPr>
              <a:buFont typeface="Wingdings" panose="05000000000000000000" pitchFamily="2" charset="2"/>
              <a:buChar char="Ø"/>
            </a:pPr>
            <a:r>
              <a:rPr lang="en-US" dirty="0">
                <a:latin typeface="Arial Narrow" panose="020B0606020202030204" pitchFamily="34" charset="0"/>
              </a:rPr>
              <a:t>This project focuses on analyzing large-scale flight performance data using advanced data visualization techniques in Power BI. The goal is to uncover patterns in delays, cancellations, and on-time performance (OTP), and provide actionable insights that airlines and airports can leverage to optimize their operations.</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4103309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a:latin typeface="Freestyle Script" panose="030804020302050B0404" pitchFamily="66" charset="0"/>
              </a:rPr>
              <a:t>OBJECTIVE</a:t>
            </a:r>
          </a:p>
        </p:txBody>
      </p:sp>
      <p:sp>
        <p:nvSpPr>
          <p:cNvPr id="5" name="Content Placeholder 4"/>
          <p:cNvSpPr>
            <a:spLocks noGrp="1"/>
          </p:cNvSpPr>
          <p:nvPr>
            <p:ph idx="1"/>
          </p:nvPr>
        </p:nvSpPr>
        <p:spPr/>
        <p:txBody>
          <a:bodyPr>
            <a:normAutofit fontScale="70000" lnSpcReduction="20000"/>
          </a:bodyPr>
          <a:lstStyle/>
          <a:p>
            <a:pPr marL="0" indent="0">
              <a:buNone/>
            </a:pPr>
            <a:endParaRPr lang="en-US" b="1" dirty="0"/>
          </a:p>
          <a:p>
            <a:pPr>
              <a:buFont typeface="Wingdings" panose="05000000000000000000" pitchFamily="2" charset="2"/>
              <a:buChar char="Ø"/>
            </a:pPr>
            <a:r>
              <a:rPr lang="en-US" dirty="0">
                <a:latin typeface="Arial Narrow" panose="020B0606020202030204" pitchFamily="34" charset="0"/>
              </a:rPr>
              <a:t>To perform an in-depth analysis of flight delays and cancellations using historical flight records.</a:t>
            </a:r>
          </a:p>
          <a:p>
            <a:pPr>
              <a:buFont typeface="Wingdings" panose="05000000000000000000" pitchFamily="2" charset="2"/>
              <a:buChar char="Ø"/>
            </a:pPr>
            <a:r>
              <a:rPr lang="en-US" dirty="0">
                <a:latin typeface="Arial Narrow" panose="020B0606020202030204" pitchFamily="34" charset="0"/>
              </a:rPr>
              <a:t>To measure and compare airline performance based on their On-Time Performance (OTP) rate.</a:t>
            </a:r>
          </a:p>
          <a:p>
            <a:pPr>
              <a:buFont typeface="Wingdings" panose="05000000000000000000" pitchFamily="2" charset="2"/>
              <a:buChar char="Ø"/>
            </a:pPr>
            <a:r>
              <a:rPr lang="en-US" dirty="0">
                <a:latin typeface="Arial Narrow" panose="020B0606020202030204" pitchFamily="34" charset="0"/>
              </a:rPr>
              <a:t>To identify the primary reasons behind flight cancellations and understand their distribution.</a:t>
            </a:r>
          </a:p>
          <a:p>
            <a:pPr>
              <a:buFont typeface="Wingdings" panose="05000000000000000000" pitchFamily="2" charset="2"/>
              <a:buChar char="Ø"/>
            </a:pPr>
            <a:r>
              <a:rPr lang="en-US" dirty="0">
                <a:latin typeface="Arial Narrow" panose="020B0606020202030204" pitchFamily="34" charset="0"/>
              </a:rPr>
              <a:t>To evaluate how factors like airport operations, departure time of the day, and seasonal trends influence flight delays.</a:t>
            </a:r>
          </a:p>
          <a:p>
            <a:pPr>
              <a:buFont typeface="Wingdings" panose="05000000000000000000" pitchFamily="2" charset="2"/>
              <a:buChar char="Ø"/>
            </a:pPr>
            <a:r>
              <a:rPr lang="en-US" dirty="0">
                <a:latin typeface="Arial Narrow" panose="020B0606020202030204" pitchFamily="34" charset="0"/>
              </a:rPr>
              <a:t>To create an interactive Power BI dashboard that enables real-time exploration of these insights for better decision-making.</a:t>
            </a:r>
          </a:p>
          <a:p>
            <a:pPr marL="0" indent="0">
              <a:buNone/>
            </a:pPr>
            <a:endParaRPr lang="en-US" dirty="0"/>
          </a:p>
        </p:txBody>
      </p:sp>
    </p:spTree>
    <p:extLst>
      <p:ext uri="{BB962C8B-B14F-4D97-AF65-F5344CB8AC3E}">
        <p14:creationId xmlns:p14="http://schemas.microsoft.com/office/powerpoint/2010/main" val="1101633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5F257-C7DC-23A5-4343-DA5BB45D7E8B}"/>
              </a:ext>
            </a:extLst>
          </p:cNvPr>
          <p:cNvSpPr>
            <a:spLocks noGrp="1"/>
          </p:cNvSpPr>
          <p:nvPr>
            <p:ph type="title"/>
          </p:nvPr>
        </p:nvSpPr>
        <p:spPr/>
        <p:txBody>
          <a:bodyPr>
            <a:normAutofit fontScale="90000"/>
          </a:bodyPr>
          <a:lstStyle/>
          <a:p>
            <a:r>
              <a:rPr lang="en-US" dirty="0">
                <a:latin typeface="Freestyle Script" panose="030804020302050B0404" pitchFamily="66" charset="0"/>
              </a:rPr>
              <a:t>CONTENT</a:t>
            </a:r>
            <a:endParaRPr lang="en-IN" dirty="0">
              <a:latin typeface="Freestyle Script" panose="030804020302050B0404" pitchFamily="66" charset="0"/>
            </a:endParaRPr>
          </a:p>
        </p:txBody>
      </p:sp>
      <p:sp>
        <p:nvSpPr>
          <p:cNvPr id="6" name="Content Placeholder 5">
            <a:extLst>
              <a:ext uri="{FF2B5EF4-FFF2-40B4-BE49-F238E27FC236}">
                <a16:creationId xmlns:a16="http://schemas.microsoft.com/office/drawing/2014/main" id="{9EF71C36-86E5-3FBE-2534-674253EC45A5}"/>
              </a:ext>
            </a:extLst>
          </p:cNvPr>
          <p:cNvSpPr>
            <a:spLocks noGrp="1"/>
          </p:cNvSpPr>
          <p:nvPr>
            <p:ph idx="1"/>
          </p:nvPr>
        </p:nvSpPr>
        <p:spPr>
          <a:xfrm>
            <a:off x="2281425" y="1044700"/>
            <a:ext cx="6566315" cy="3817625"/>
          </a:xfrm>
        </p:spPr>
        <p:txBody>
          <a:bodyPr>
            <a:normAutofit/>
          </a:bodyPr>
          <a:lstStyle/>
          <a:p>
            <a:pPr>
              <a:buAutoNum type="arabicPeriod"/>
            </a:pPr>
            <a:r>
              <a:rPr lang="en-US" sz="1600" dirty="0">
                <a:latin typeface="Goudy Old Style" panose="02020502050305020303" pitchFamily="18" charset="0"/>
              </a:rPr>
              <a:t>Project Introduction and Objective</a:t>
            </a:r>
          </a:p>
          <a:p>
            <a:pPr>
              <a:buAutoNum type="arabicPeriod"/>
            </a:pPr>
            <a:r>
              <a:rPr lang="en-US" sz="1600" dirty="0">
                <a:latin typeface="Goudy Old Style" panose="02020502050305020303" pitchFamily="18" charset="0"/>
              </a:rPr>
              <a:t>Understanding Flight Performance Dataset</a:t>
            </a:r>
          </a:p>
          <a:p>
            <a:pPr>
              <a:buAutoNum type="arabicPeriod"/>
            </a:pPr>
            <a:r>
              <a:rPr lang="en-US" sz="1600" dirty="0">
                <a:latin typeface="Goudy Old Style" panose="02020502050305020303" pitchFamily="18" charset="0"/>
              </a:rPr>
              <a:t>Data Cleaning and Time Conversion (SQL Operations)</a:t>
            </a:r>
          </a:p>
          <a:p>
            <a:pPr>
              <a:buAutoNum type="arabicPeriod"/>
            </a:pPr>
            <a:r>
              <a:rPr lang="en-US" sz="1600" dirty="0">
                <a:latin typeface="Goudy Old Style" panose="02020502050305020303" pitchFamily="18" charset="0"/>
              </a:rPr>
              <a:t>Mapping Cancellation Reasons and Categorization</a:t>
            </a:r>
          </a:p>
          <a:p>
            <a:pPr>
              <a:buAutoNum type="arabicPeriod"/>
            </a:pPr>
            <a:r>
              <a:rPr lang="en-US" sz="1600" dirty="0">
                <a:latin typeface="Goudy Old Style" panose="02020502050305020303" pitchFamily="18" charset="0"/>
              </a:rPr>
              <a:t>Relational Joins with Airlines and Airports Data</a:t>
            </a:r>
          </a:p>
          <a:p>
            <a:pPr>
              <a:buAutoNum type="arabicPeriod"/>
            </a:pPr>
            <a:r>
              <a:rPr lang="en-US" sz="1600" dirty="0">
                <a:latin typeface="Goudy Old Style" panose="02020502050305020303" pitchFamily="18" charset="0"/>
              </a:rPr>
              <a:t>Data Import and Relationship Building in Power BI</a:t>
            </a:r>
          </a:p>
          <a:p>
            <a:pPr>
              <a:buAutoNum type="arabicPeriod"/>
            </a:pPr>
            <a:r>
              <a:rPr lang="en-US" sz="1600" dirty="0">
                <a:latin typeface="Goudy Old Style" panose="02020502050305020303" pitchFamily="18" charset="0"/>
              </a:rPr>
              <a:t>Creation of DAX Measures and KPI Calculations</a:t>
            </a:r>
          </a:p>
          <a:p>
            <a:pPr>
              <a:buAutoNum type="arabicPeriod"/>
            </a:pPr>
            <a:r>
              <a:rPr lang="en-US" sz="1600" dirty="0">
                <a:latin typeface="Goudy Old Style" panose="02020502050305020303" pitchFamily="18" charset="0"/>
              </a:rPr>
              <a:t>Interactive Dashboard Design in Power BI</a:t>
            </a:r>
          </a:p>
          <a:p>
            <a:pPr>
              <a:buAutoNum type="arabicPeriod"/>
            </a:pPr>
            <a:r>
              <a:rPr lang="en-US" sz="1600" dirty="0">
                <a:latin typeface="Goudy Old Style" panose="02020502050305020303" pitchFamily="18" charset="0"/>
              </a:rPr>
              <a:t>Flight Delay and Cancellation Insights</a:t>
            </a:r>
          </a:p>
          <a:p>
            <a:pPr>
              <a:buAutoNum type="arabicPeriod"/>
            </a:pPr>
            <a:r>
              <a:rPr lang="en-US" sz="1600" dirty="0">
                <a:latin typeface="Goudy Old Style" panose="02020502050305020303" pitchFamily="18" charset="0"/>
              </a:rPr>
              <a:t>Challenges Faced During Data Preparation</a:t>
            </a:r>
          </a:p>
          <a:p>
            <a:pPr>
              <a:buAutoNum type="arabicPeriod"/>
            </a:pPr>
            <a:r>
              <a:rPr lang="en-US" sz="1600" dirty="0">
                <a:latin typeface="Goudy Old Style" panose="02020502050305020303" pitchFamily="18" charset="0"/>
              </a:rPr>
              <a:t>Conclusion</a:t>
            </a:r>
          </a:p>
          <a:p>
            <a:pPr>
              <a:buAutoNum type="arabicPeriod"/>
            </a:pPr>
            <a:r>
              <a:rPr lang="en-US" sz="1600" dirty="0">
                <a:latin typeface="Goudy Old Style" panose="02020502050305020303" pitchFamily="18" charset="0"/>
              </a:rPr>
              <a:t>Recommendations for Operational Improvements</a:t>
            </a:r>
          </a:p>
          <a:p>
            <a:pPr marL="0" indent="0">
              <a:buNone/>
            </a:pPr>
            <a:endParaRPr lang="en-IN" dirty="0"/>
          </a:p>
        </p:txBody>
      </p:sp>
    </p:spTree>
    <p:extLst>
      <p:ext uri="{BB962C8B-B14F-4D97-AF65-F5344CB8AC3E}">
        <p14:creationId xmlns:p14="http://schemas.microsoft.com/office/powerpoint/2010/main" val="3068296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47572-6093-B8D3-1AEF-4A444DC39ADA}"/>
              </a:ext>
            </a:extLst>
          </p:cNvPr>
          <p:cNvSpPr>
            <a:spLocks noGrp="1"/>
          </p:cNvSpPr>
          <p:nvPr>
            <p:ph type="title"/>
          </p:nvPr>
        </p:nvSpPr>
        <p:spPr/>
        <p:txBody>
          <a:bodyPr/>
          <a:lstStyle/>
          <a:p>
            <a:r>
              <a:rPr lang="en-US" dirty="0">
                <a:solidFill>
                  <a:srgbClr val="FF0000"/>
                </a:solidFill>
                <a:latin typeface="Freestyle Script" panose="030804020302050B0404" pitchFamily="66" charset="0"/>
              </a:rPr>
              <a:t>Data cleaning and transformation</a:t>
            </a:r>
            <a:endParaRPr lang="en-IN" dirty="0">
              <a:solidFill>
                <a:srgbClr val="FF0000"/>
              </a:solidFill>
              <a:latin typeface="Freestyle Script" panose="030804020302050B0404" pitchFamily="66" charset="0"/>
            </a:endParaRPr>
          </a:p>
        </p:txBody>
      </p:sp>
      <p:sp>
        <p:nvSpPr>
          <p:cNvPr id="3" name="Content Placeholder 2">
            <a:extLst>
              <a:ext uri="{FF2B5EF4-FFF2-40B4-BE49-F238E27FC236}">
                <a16:creationId xmlns:a16="http://schemas.microsoft.com/office/drawing/2014/main" id="{4025F712-ACA0-DC26-E608-CE77A990D843}"/>
              </a:ext>
            </a:extLst>
          </p:cNvPr>
          <p:cNvSpPr>
            <a:spLocks noGrp="1"/>
          </p:cNvSpPr>
          <p:nvPr>
            <p:ph sz="half" idx="1"/>
          </p:nvPr>
        </p:nvSpPr>
        <p:spPr>
          <a:xfrm>
            <a:off x="457200" y="1200150"/>
            <a:ext cx="4038600" cy="3943349"/>
          </a:xfrm>
        </p:spPr>
        <p:txBody>
          <a:bodyPr>
            <a:noAutofit/>
          </a:bodyPr>
          <a:lstStyle/>
          <a:p>
            <a:pPr marL="0" indent="0">
              <a:buNone/>
            </a:pPr>
            <a:r>
              <a:rPr lang="en-US" sz="1100" dirty="0">
                <a:solidFill>
                  <a:schemeClr val="bg1"/>
                </a:solidFill>
                <a:latin typeface="Book Antiqua" panose="02040602050305030304" pitchFamily="18" charset="0"/>
              </a:rPr>
              <a:t>Time Columns Formatting</a:t>
            </a:r>
          </a:p>
          <a:p>
            <a:pPr marL="0" indent="0">
              <a:buNone/>
            </a:pPr>
            <a:r>
              <a:rPr lang="en-US" sz="1100" dirty="0">
                <a:solidFill>
                  <a:schemeClr val="bg1"/>
                </a:solidFill>
                <a:latin typeface="Book Antiqua" panose="02040602050305030304" pitchFamily="18" charset="0"/>
              </a:rPr>
              <a:t>Converted scheduled_departure, scheduled_arrival, wheels_off, wheels_on, and actual arrival times from numeric formats (e.g., 1435 → 14:35) into proper TIME data types.</a:t>
            </a:r>
          </a:p>
          <a:p>
            <a:pPr marL="0" indent="0">
              <a:buNone/>
            </a:pPr>
            <a:r>
              <a:rPr lang="en-US" sz="1100" dirty="0">
                <a:solidFill>
                  <a:schemeClr val="bg1"/>
                </a:solidFill>
                <a:latin typeface="Book Antiqua" panose="02040602050305030304" pitchFamily="18" charset="0"/>
              </a:rPr>
              <a:t>Handled null and missing time values to ensure consistency across the dataset.</a:t>
            </a:r>
          </a:p>
          <a:p>
            <a:pPr>
              <a:buFont typeface="Wingdings" panose="05000000000000000000" pitchFamily="2" charset="2"/>
              <a:buChar char="Ø"/>
            </a:pPr>
            <a:r>
              <a:rPr lang="en-US" sz="1100" dirty="0">
                <a:solidFill>
                  <a:schemeClr val="bg1"/>
                </a:solidFill>
                <a:latin typeface="Book Antiqua" panose="02040602050305030304" pitchFamily="18" charset="0"/>
              </a:rPr>
              <a:t>Cancellation Reason Mapping</a:t>
            </a:r>
          </a:p>
          <a:p>
            <a:pPr marL="0" indent="0">
              <a:buNone/>
            </a:pPr>
            <a:r>
              <a:rPr lang="en-US" sz="1100" dirty="0">
                <a:solidFill>
                  <a:schemeClr val="bg1"/>
                </a:solidFill>
                <a:latin typeface="Book Antiqua" panose="02040602050305030304" pitchFamily="18" charset="0"/>
              </a:rPr>
              <a:t>Cancellation reasons provided as codes (A, B, C, D) were standardized for easier filtering and analysis in Power BI.</a:t>
            </a:r>
          </a:p>
          <a:p>
            <a:pPr marL="0" indent="0">
              <a:buNone/>
            </a:pPr>
            <a:r>
              <a:rPr lang="en-US" sz="1100" dirty="0">
                <a:solidFill>
                  <a:schemeClr val="bg1"/>
                </a:solidFill>
                <a:latin typeface="Book Antiqua" panose="02040602050305030304" pitchFamily="18" charset="0"/>
              </a:rPr>
              <a:t>Ensured flights with blank cancellation_reason were treated as non-cancelled flights during analysis.</a:t>
            </a:r>
          </a:p>
          <a:p>
            <a:pPr>
              <a:buFont typeface="Wingdings" panose="05000000000000000000" pitchFamily="2" charset="2"/>
              <a:buChar char="Ø"/>
            </a:pPr>
            <a:r>
              <a:rPr lang="en-US" sz="1100" dirty="0">
                <a:solidFill>
                  <a:schemeClr val="bg1"/>
                </a:solidFill>
                <a:latin typeface="Book Antiqua" panose="02040602050305030304" pitchFamily="18" charset="0"/>
              </a:rPr>
              <a:t>Column Additions for Analysis</a:t>
            </a:r>
          </a:p>
          <a:p>
            <a:pPr marL="0" indent="0">
              <a:buNone/>
            </a:pPr>
            <a:r>
              <a:rPr lang="en-US" sz="1100" dirty="0">
                <a:solidFill>
                  <a:schemeClr val="bg1"/>
                </a:solidFill>
                <a:latin typeface="Book Antiqua" panose="02040602050305030304" pitchFamily="18" charset="0"/>
              </a:rPr>
              <a:t>Created new derived columns such as scheduled_departure_time, wheels_off_time, arrival_time_converted for clean time-based analysis .</a:t>
            </a:r>
          </a:p>
          <a:p>
            <a:pPr marL="0" indent="0">
              <a:buNone/>
            </a:pPr>
            <a:r>
              <a:rPr lang="en-US" sz="1100" dirty="0">
                <a:solidFill>
                  <a:schemeClr val="bg1"/>
                </a:solidFill>
                <a:latin typeface="Book Antiqua" panose="02040602050305030304" pitchFamily="18" charset="0"/>
              </a:rPr>
              <a:t>Added a binary flag column (Cancelled_Flag) to identify cancelled flights easily for KPI calculations.</a:t>
            </a:r>
          </a:p>
          <a:p>
            <a:pPr marL="0" indent="0">
              <a:buNone/>
            </a:pPr>
            <a:endParaRPr lang="en-US" sz="1100" dirty="0">
              <a:solidFill>
                <a:schemeClr val="bg1"/>
              </a:solidFill>
              <a:latin typeface="Book Antiqua" panose="02040602050305030304" pitchFamily="18" charset="0"/>
            </a:endParaRPr>
          </a:p>
          <a:p>
            <a:pPr marL="0" indent="0">
              <a:buNone/>
            </a:pPr>
            <a:r>
              <a:rPr lang="en-US" sz="1100" dirty="0">
                <a:solidFill>
                  <a:schemeClr val="bg1"/>
                </a:solidFill>
                <a:latin typeface="Book Antiqua" panose="02040602050305030304" pitchFamily="18" charset="0"/>
              </a:rPr>
              <a:t> </a:t>
            </a:r>
            <a:endParaRPr lang="en-IN" sz="1100" dirty="0">
              <a:solidFill>
                <a:schemeClr val="bg1"/>
              </a:solidFill>
              <a:latin typeface="Book Antiqua" panose="02040602050305030304" pitchFamily="18" charset="0"/>
            </a:endParaRPr>
          </a:p>
        </p:txBody>
      </p:sp>
      <p:sp>
        <p:nvSpPr>
          <p:cNvPr id="4" name="Content Placeholder 3">
            <a:extLst>
              <a:ext uri="{FF2B5EF4-FFF2-40B4-BE49-F238E27FC236}">
                <a16:creationId xmlns:a16="http://schemas.microsoft.com/office/drawing/2014/main" id="{1D9D5172-D170-C903-2D22-A6971A4883CC}"/>
              </a:ext>
            </a:extLst>
          </p:cNvPr>
          <p:cNvSpPr>
            <a:spLocks noGrp="1"/>
          </p:cNvSpPr>
          <p:nvPr>
            <p:ph sz="half" idx="2"/>
          </p:nvPr>
        </p:nvSpPr>
        <p:spPr/>
        <p:txBody>
          <a:bodyPr>
            <a:normAutofit fontScale="85000" lnSpcReduction="20000"/>
          </a:bodyPr>
          <a:lstStyle/>
          <a:p>
            <a:pPr marL="0" indent="0">
              <a:buNone/>
            </a:pPr>
            <a:r>
              <a:rPr lang="en-US" sz="1700" dirty="0">
                <a:solidFill>
                  <a:schemeClr val="bg1"/>
                </a:solidFill>
              </a:rPr>
              <a:t> </a:t>
            </a:r>
          </a:p>
          <a:p>
            <a:pPr>
              <a:buFont typeface="Wingdings" panose="05000000000000000000" pitchFamily="2" charset="2"/>
              <a:buChar char="Ø"/>
            </a:pPr>
            <a:r>
              <a:rPr lang="en-US" sz="1400" dirty="0">
                <a:solidFill>
                  <a:schemeClr val="bg1"/>
                </a:solidFill>
                <a:latin typeface="Book Antiqua" panose="02040602050305030304" pitchFamily="18" charset="0"/>
              </a:rPr>
              <a:t>Data Standardization &amp; Null Handling</a:t>
            </a:r>
          </a:p>
          <a:p>
            <a:pPr marL="0" indent="0">
              <a:buNone/>
            </a:pPr>
            <a:r>
              <a:rPr lang="en-US" sz="1400" dirty="0">
                <a:solidFill>
                  <a:schemeClr val="bg1"/>
                </a:solidFill>
                <a:latin typeface="Book Antiqua" panose="02040602050305030304" pitchFamily="18" charset="0"/>
              </a:rPr>
              <a:t>Replaced missing values in delay columns (departure_delay, arrival_delay) with appropriate null handling to prevent calculation errors.</a:t>
            </a:r>
          </a:p>
          <a:p>
            <a:pPr marL="0" indent="0">
              <a:buNone/>
            </a:pPr>
            <a:r>
              <a:rPr lang="en-US" sz="1400" dirty="0">
                <a:solidFill>
                  <a:schemeClr val="bg1"/>
                </a:solidFill>
                <a:latin typeface="Book Antiqua" panose="02040602050305030304" pitchFamily="18" charset="0"/>
              </a:rPr>
              <a:t> Ensured all code fields (airline codes, airport codes) matched with master data from airlines and airports tables</a:t>
            </a:r>
            <a:endParaRPr lang="en-IN" sz="1400" dirty="0">
              <a:solidFill>
                <a:schemeClr val="bg1"/>
              </a:solidFill>
              <a:latin typeface="Book Antiqua" panose="02040602050305030304" pitchFamily="18" charset="0"/>
            </a:endParaRPr>
          </a:p>
          <a:p>
            <a:pPr marL="0" indent="0">
              <a:buNone/>
            </a:pPr>
            <a:endParaRPr lang="en-US" sz="1700" dirty="0">
              <a:solidFill>
                <a:schemeClr val="bg1"/>
              </a:solidFill>
            </a:endParaRPr>
          </a:p>
          <a:p>
            <a:pPr>
              <a:buFont typeface="Wingdings" panose="05000000000000000000" pitchFamily="2" charset="2"/>
              <a:buChar char="Ø"/>
            </a:pPr>
            <a:r>
              <a:rPr lang="en-US" sz="1400" dirty="0">
                <a:solidFill>
                  <a:schemeClr val="bg1"/>
                </a:solidFill>
                <a:latin typeface="Book Antiqua" panose="02040602050305030304" pitchFamily="18" charset="0"/>
              </a:rPr>
              <a:t>Relational Joins for Data Enrichment</a:t>
            </a:r>
          </a:p>
          <a:p>
            <a:pPr marL="0" indent="0">
              <a:buNone/>
            </a:pPr>
            <a:r>
              <a:rPr lang="en-US" sz="1400" dirty="0">
                <a:solidFill>
                  <a:schemeClr val="bg1"/>
                </a:solidFill>
                <a:latin typeface="Book Antiqua" panose="02040602050305030304" pitchFamily="18" charset="0"/>
              </a:rPr>
              <a:t>Joined the flights table with airlines and airports master tables using IATA codes to enrich data context.</a:t>
            </a:r>
          </a:p>
          <a:p>
            <a:pPr marL="0" indent="0">
              <a:buNone/>
            </a:pPr>
            <a:r>
              <a:rPr lang="en-US" sz="1400" dirty="0">
                <a:solidFill>
                  <a:schemeClr val="bg1"/>
                </a:solidFill>
                <a:latin typeface="Book Antiqua" panose="02040602050305030304" pitchFamily="18" charset="0"/>
              </a:rPr>
              <a:t>Enabled the inclusion of Airline Names and Airport Names in the final dataset for dashboard visualizations.</a:t>
            </a:r>
          </a:p>
          <a:p>
            <a:pPr>
              <a:buFont typeface="Wingdings" panose="05000000000000000000" pitchFamily="2" charset="2"/>
              <a:buChar char="Ø"/>
            </a:pPr>
            <a:r>
              <a:rPr lang="en-US" sz="1400" dirty="0">
                <a:solidFill>
                  <a:schemeClr val="bg1"/>
                </a:solidFill>
                <a:latin typeface="Book Antiqua" panose="02040602050305030304" pitchFamily="18" charset="0"/>
              </a:rPr>
              <a:t>Final Clean Table Creation</a:t>
            </a:r>
          </a:p>
          <a:p>
            <a:pPr marL="0" indent="0">
              <a:buNone/>
            </a:pPr>
            <a:r>
              <a:rPr lang="en-US" sz="1400" dirty="0">
                <a:solidFill>
                  <a:schemeClr val="bg1"/>
                </a:solidFill>
                <a:latin typeface="Book Antiqua" panose="02040602050305030304" pitchFamily="18" charset="0"/>
              </a:rPr>
              <a:t>Structured the cleaned and enriched dataset into a final table (flights_cleaned_view) which was directly used for Power BI visualization and KPI generation</a:t>
            </a:r>
            <a:r>
              <a:rPr lang="en-US" sz="1600" dirty="0"/>
              <a:t>.</a:t>
            </a:r>
            <a:endParaRPr lang="en-IN" sz="1600" dirty="0"/>
          </a:p>
        </p:txBody>
      </p:sp>
    </p:spTree>
    <p:extLst>
      <p:ext uri="{BB962C8B-B14F-4D97-AF65-F5344CB8AC3E}">
        <p14:creationId xmlns:p14="http://schemas.microsoft.com/office/powerpoint/2010/main" val="1173865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8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3379F-AF38-0105-B74C-7E45A1FA26ED}"/>
              </a:ext>
            </a:extLst>
          </p:cNvPr>
          <p:cNvSpPr>
            <a:spLocks noGrp="1"/>
          </p:cNvSpPr>
          <p:nvPr>
            <p:ph type="title"/>
          </p:nvPr>
        </p:nvSpPr>
        <p:spPr>
          <a:xfrm>
            <a:off x="448965" y="281175"/>
            <a:ext cx="8246070" cy="305410"/>
          </a:xfrm>
        </p:spPr>
        <p:txBody>
          <a:bodyPr>
            <a:normAutofit fontScale="90000"/>
          </a:bodyPr>
          <a:lstStyle/>
          <a:p>
            <a:r>
              <a:rPr lang="en-US" dirty="0">
                <a:latin typeface="Freestyle Script" panose="030804020302050B0404" pitchFamily="66" charset="0"/>
              </a:rPr>
              <a:t>DATABASE SETUP AND OPERATION</a:t>
            </a:r>
            <a:endParaRPr lang="en-IN" dirty="0">
              <a:latin typeface="Freestyle Script" panose="030804020302050B0404" pitchFamily="66" charset="0"/>
            </a:endParaRPr>
          </a:p>
        </p:txBody>
      </p:sp>
      <p:pic>
        <p:nvPicPr>
          <p:cNvPr id="5" name="Content Placeholder 4" descr="A screenshot of a computer&#10;&#10;AI-generated content may be incorrect.">
            <a:extLst>
              <a:ext uri="{FF2B5EF4-FFF2-40B4-BE49-F238E27FC236}">
                <a16:creationId xmlns:a16="http://schemas.microsoft.com/office/drawing/2014/main" id="{7DE1D510-A0BA-28C4-8BAA-1E12BC738B11}"/>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5119122" y="3230225"/>
            <a:ext cx="3956611" cy="1823508"/>
          </a:xfrm>
          <a:prstGeom prst="rect">
            <a:avLst/>
          </a:prstGeom>
          <a:ln w="44450">
            <a:solidFill>
              <a:schemeClr val="tx1"/>
            </a:solidFill>
          </a:ln>
        </p:spPr>
      </p:pic>
      <p:pic>
        <p:nvPicPr>
          <p:cNvPr id="7" name="Picture 6" descr="A screenshot of a computer&#10;&#10;AI-generated content may be incorrect.">
            <a:extLst>
              <a:ext uri="{FF2B5EF4-FFF2-40B4-BE49-F238E27FC236}">
                <a16:creationId xmlns:a16="http://schemas.microsoft.com/office/drawing/2014/main" id="{82304FA3-87DF-CBA3-58C4-930742D95F7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328" y="3230225"/>
            <a:ext cx="4392968" cy="1823508"/>
          </a:xfrm>
          <a:prstGeom prst="rect">
            <a:avLst/>
          </a:prstGeom>
          <a:ln w="44450">
            <a:solidFill>
              <a:schemeClr val="tx1"/>
            </a:solidFill>
          </a:ln>
        </p:spPr>
      </p:pic>
      <p:pic>
        <p:nvPicPr>
          <p:cNvPr id="9" name="Picture 8" descr="A screenshot of a computer&#10;&#10;AI-generated content may be incorrect.">
            <a:extLst>
              <a:ext uri="{FF2B5EF4-FFF2-40B4-BE49-F238E27FC236}">
                <a16:creationId xmlns:a16="http://schemas.microsoft.com/office/drawing/2014/main" id="{4E18CCC6-6905-97F9-6D2B-ECD4DA30E72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705" y="656806"/>
            <a:ext cx="4275741" cy="1914944"/>
          </a:xfrm>
          <a:prstGeom prst="rect">
            <a:avLst/>
          </a:prstGeom>
          <a:ln w="44450">
            <a:solidFill>
              <a:schemeClr val="tx1"/>
            </a:solidFill>
          </a:ln>
        </p:spPr>
      </p:pic>
      <p:pic>
        <p:nvPicPr>
          <p:cNvPr id="11" name="Picture 10" descr="A screenshot of a computer&#10;&#10;AI-generated content may be incorrect.">
            <a:extLst>
              <a:ext uri="{FF2B5EF4-FFF2-40B4-BE49-F238E27FC236}">
                <a16:creationId xmlns:a16="http://schemas.microsoft.com/office/drawing/2014/main" id="{CED8C629-E984-3CE2-3BB9-E45B96C7EC7D}"/>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9000"/>
                    </a14:imgEffect>
                    <a14:imgEffect>
                      <a14:saturation sat="95000"/>
                    </a14:imgEffect>
                  </a14:imgLayer>
                </a14:imgProps>
              </a:ext>
              <a:ext uri="{28A0092B-C50C-407E-A947-70E740481C1C}">
                <a14:useLocalDpi xmlns:a14="http://schemas.microsoft.com/office/drawing/2010/main" val="0"/>
              </a:ext>
            </a:extLst>
          </a:blip>
          <a:stretch>
            <a:fillRect/>
          </a:stretch>
        </p:blipFill>
        <p:spPr>
          <a:xfrm>
            <a:off x="143554" y="657897"/>
            <a:ext cx="3518187" cy="2376000"/>
          </a:xfrm>
          <a:prstGeom prst="rect">
            <a:avLst/>
          </a:prstGeom>
          <a:ln w="44450">
            <a:solidFill>
              <a:schemeClr val="tx1"/>
            </a:solidFill>
          </a:ln>
        </p:spPr>
      </p:pic>
      <p:pic>
        <p:nvPicPr>
          <p:cNvPr id="13" name="Graphic 12" descr="Arrow: Slight curve with solid fill">
            <a:extLst>
              <a:ext uri="{FF2B5EF4-FFF2-40B4-BE49-F238E27FC236}">
                <a16:creationId xmlns:a16="http://schemas.microsoft.com/office/drawing/2014/main" id="{8830C93A-E921-6E63-C342-073CB9FCA64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742523" y="1245060"/>
            <a:ext cx="676773" cy="715870"/>
          </a:xfrm>
          <a:prstGeom prst="rect">
            <a:avLst/>
          </a:prstGeom>
        </p:spPr>
      </p:pic>
      <p:pic>
        <p:nvPicPr>
          <p:cNvPr id="15" name="Graphic 14" descr="Arrow: Rotate right with solid fill">
            <a:extLst>
              <a:ext uri="{FF2B5EF4-FFF2-40B4-BE49-F238E27FC236}">
                <a16:creationId xmlns:a16="http://schemas.microsoft.com/office/drawing/2014/main" id="{02E9EA51-3323-4DC9-E4D5-9BFDAE42371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099965" y="2619862"/>
            <a:ext cx="762610" cy="562250"/>
          </a:xfrm>
          <a:prstGeom prst="rect">
            <a:avLst/>
          </a:prstGeom>
        </p:spPr>
      </p:pic>
      <p:pic>
        <p:nvPicPr>
          <p:cNvPr id="17" name="Graphic 16" descr="Back with solid fill">
            <a:extLst>
              <a:ext uri="{FF2B5EF4-FFF2-40B4-BE49-F238E27FC236}">
                <a16:creationId xmlns:a16="http://schemas.microsoft.com/office/drawing/2014/main" id="{D769F2C0-1056-B0CF-FEBC-6BAB652814E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442349" y="3793390"/>
            <a:ext cx="676773" cy="562250"/>
          </a:xfrm>
          <a:prstGeom prst="rect">
            <a:avLst/>
          </a:prstGeom>
        </p:spPr>
      </p:pic>
    </p:spTree>
    <p:extLst>
      <p:ext uri="{BB962C8B-B14F-4D97-AF65-F5344CB8AC3E}">
        <p14:creationId xmlns:p14="http://schemas.microsoft.com/office/powerpoint/2010/main" val="13261673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F3256-1FCC-9B94-4A8C-A93A01B6A42B}"/>
              </a:ext>
            </a:extLst>
          </p:cNvPr>
          <p:cNvSpPr>
            <a:spLocks noGrp="1"/>
          </p:cNvSpPr>
          <p:nvPr>
            <p:ph type="title"/>
          </p:nvPr>
        </p:nvSpPr>
        <p:spPr>
          <a:xfrm>
            <a:off x="-52657" y="255800"/>
            <a:ext cx="8229600" cy="227901"/>
          </a:xfrm>
        </p:spPr>
        <p:txBody>
          <a:bodyPr>
            <a:normAutofit fontScale="90000"/>
          </a:bodyPr>
          <a:lstStyle/>
          <a:p>
            <a:r>
              <a:rPr lang="en-US" dirty="0">
                <a:solidFill>
                  <a:srgbClr val="FF0000"/>
                </a:solidFill>
                <a:latin typeface="Freestyle Script" panose="030804020302050B0404" pitchFamily="66" charset="0"/>
              </a:rPr>
              <a:t>RUNNING QUERIES IN SQL</a:t>
            </a:r>
            <a:endParaRPr lang="en-IN" dirty="0">
              <a:solidFill>
                <a:srgbClr val="FF0000"/>
              </a:solidFill>
              <a:latin typeface="Freestyle Script" panose="030804020302050B0404" pitchFamily="66" charset="0"/>
            </a:endParaRPr>
          </a:p>
        </p:txBody>
      </p:sp>
      <p:pic>
        <p:nvPicPr>
          <p:cNvPr id="12" name="Picture 11" descr="A screenshot of a computer&#10;&#10;AI-generated content may be incorrect.">
            <a:extLst>
              <a:ext uri="{FF2B5EF4-FFF2-40B4-BE49-F238E27FC236}">
                <a16:creationId xmlns:a16="http://schemas.microsoft.com/office/drawing/2014/main" id="{6A0DEF17-B873-4AFD-1508-B2A13FC47F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261" y="586585"/>
            <a:ext cx="8551480" cy="2290575"/>
          </a:xfrm>
          <a:prstGeom prst="rect">
            <a:avLst/>
          </a:prstGeom>
          <a:ln w="44450">
            <a:solidFill>
              <a:schemeClr val="tx1"/>
            </a:solidFill>
          </a:ln>
        </p:spPr>
      </p:pic>
      <p:pic>
        <p:nvPicPr>
          <p:cNvPr id="13" name="Picture 12" descr="A screenshot of a computer&#10;&#10;AI-generated content may be incorrect.">
            <a:extLst>
              <a:ext uri="{FF2B5EF4-FFF2-40B4-BE49-F238E27FC236}">
                <a16:creationId xmlns:a16="http://schemas.microsoft.com/office/drawing/2014/main" id="{E1589246-BEF8-5E26-3750-A74A623227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6261" y="3029865"/>
            <a:ext cx="8551480" cy="2055715"/>
          </a:xfrm>
          <a:prstGeom prst="rect">
            <a:avLst/>
          </a:prstGeom>
          <a:ln w="44450">
            <a:solidFill>
              <a:schemeClr val="tx1"/>
            </a:solidFill>
          </a:ln>
        </p:spPr>
      </p:pic>
    </p:spTree>
    <p:extLst>
      <p:ext uri="{BB962C8B-B14F-4D97-AF65-F5344CB8AC3E}">
        <p14:creationId xmlns:p14="http://schemas.microsoft.com/office/powerpoint/2010/main" val="38116957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0C9CCA27-C991-330F-8F00-BA27A5BA88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481" y="0"/>
            <a:ext cx="4275740" cy="2877160"/>
          </a:xfrm>
          <a:prstGeom prst="rect">
            <a:avLst/>
          </a:prstGeom>
          <a:ln w="44450">
            <a:solidFill>
              <a:schemeClr val="tx1"/>
            </a:solidFill>
          </a:ln>
        </p:spPr>
      </p:pic>
      <p:pic>
        <p:nvPicPr>
          <p:cNvPr id="4" name="Picture 3" descr="A screenshot of a computer&#10;&#10;AI-generated content may be incorrect.">
            <a:extLst>
              <a:ext uri="{FF2B5EF4-FFF2-40B4-BE49-F238E27FC236}">
                <a16:creationId xmlns:a16="http://schemas.microsoft.com/office/drawing/2014/main" id="{99F3B1D3-7AFF-42E2-34CF-ED0E90548B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72902" y="0"/>
            <a:ext cx="3817625" cy="3029865"/>
          </a:xfrm>
          <a:prstGeom prst="rect">
            <a:avLst/>
          </a:prstGeom>
          <a:ln w="44450">
            <a:solidFill>
              <a:schemeClr val="tx1"/>
            </a:solidFill>
          </a:ln>
        </p:spPr>
      </p:pic>
      <p:pic>
        <p:nvPicPr>
          <p:cNvPr id="5" name="Picture 4" descr="A screenshot of a computer&#10;&#10;AI-generated content may be incorrect.">
            <a:extLst>
              <a:ext uri="{FF2B5EF4-FFF2-40B4-BE49-F238E27FC236}">
                <a16:creationId xmlns:a16="http://schemas.microsoft.com/office/drawing/2014/main" id="{CFB16EC0-10C3-42BD-5BFA-5487D4EF6B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4059" y="3204770"/>
            <a:ext cx="8959941" cy="1744552"/>
          </a:xfrm>
          <a:prstGeom prst="rect">
            <a:avLst/>
          </a:prstGeom>
          <a:ln w="44450">
            <a:solidFill>
              <a:schemeClr val="tx1"/>
            </a:solidFill>
          </a:ln>
        </p:spPr>
      </p:pic>
    </p:spTree>
    <p:extLst>
      <p:ext uri="{BB962C8B-B14F-4D97-AF65-F5344CB8AC3E}">
        <p14:creationId xmlns:p14="http://schemas.microsoft.com/office/powerpoint/2010/main" val="1415667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5AFD4-31CE-AC9A-C44B-2441699CF3A5}"/>
              </a:ext>
            </a:extLst>
          </p:cNvPr>
          <p:cNvSpPr>
            <a:spLocks noGrp="1"/>
          </p:cNvSpPr>
          <p:nvPr>
            <p:ph type="title"/>
          </p:nvPr>
        </p:nvSpPr>
        <p:spPr>
          <a:xfrm>
            <a:off x="457201" y="204787"/>
            <a:ext cx="3008313" cy="871538"/>
          </a:xfrm>
        </p:spPr>
        <p:txBody>
          <a:bodyPr/>
          <a:lstStyle/>
          <a:p>
            <a:r>
              <a:rPr lang="en-US" dirty="0">
                <a:solidFill>
                  <a:schemeClr val="bg1"/>
                </a:solidFill>
              </a:rPr>
              <a:t>POWER BI DASHBOARD</a:t>
            </a:r>
            <a:endParaRPr lang="en-IN" dirty="0">
              <a:solidFill>
                <a:schemeClr val="bg1"/>
              </a:solidFill>
            </a:endParaRPr>
          </a:p>
        </p:txBody>
      </p:sp>
      <p:pic>
        <p:nvPicPr>
          <p:cNvPr id="6" name="Content Placeholder 5" descr="A screenshot of a computer dashboard&#10;&#10;AI-generated content may be incorrect.">
            <a:extLst>
              <a:ext uri="{FF2B5EF4-FFF2-40B4-BE49-F238E27FC236}">
                <a16:creationId xmlns:a16="http://schemas.microsoft.com/office/drawing/2014/main" id="{887C74EA-436E-F7C7-E8E2-C2D6926B331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75050" y="0"/>
            <a:ext cx="5568950" cy="5143499"/>
          </a:xfrm>
        </p:spPr>
      </p:pic>
      <p:sp>
        <p:nvSpPr>
          <p:cNvPr id="4" name="Text Placeholder 3">
            <a:extLst>
              <a:ext uri="{FF2B5EF4-FFF2-40B4-BE49-F238E27FC236}">
                <a16:creationId xmlns:a16="http://schemas.microsoft.com/office/drawing/2014/main" id="{701069A1-E474-7005-A692-06345D58EB87}"/>
              </a:ext>
            </a:extLst>
          </p:cNvPr>
          <p:cNvSpPr>
            <a:spLocks noGrp="1"/>
          </p:cNvSpPr>
          <p:nvPr>
            <p:ph type="body" sz="half" idx="2"/>
          </p:nvPr>
        </p:nvSpPr>
        <p:spPr>
          <a:xfrm>
            <a:off x="1" y="1197404"/>
            <a:ext cx="3465514" cy="3946095"/>
          </a:xfrm>
        </p:spPr>
        <p:txBody>
          <a:bodyPr>
            <a:normAutofit fontScale="85000" lnSpcReduction="20000"/>
          </a:bodyPr>
          <a:lstStyle/>
          <a:p>
            <a:r>
              <a:rPr lang="en-US" dirty="0">
                <a:solidFill>
                  <a:schemeClr val="bg1"/>
                </a:solidFill>
              </a:rPr>
              <a:t>The dashboard analysis highlights significant variations in flight punctuality across different airlines and airports. Some airlines consistently manage their schedules well, ensuring timely arrivals, while others struggle with recurring delays due to operational inefficiencies. Cancellations are largely driven by internal airline factors like crew availability and maintenance issues, followed by external factors such as adverse weather conditions. Airports with high traffic volumes exhibit moderate delays, whereas certain regional airports face severe departure delays, indicating process bottlenecks at ground operations. Time-of-day patterns reveal that flights scheduled for late mornings are more prone to delays, possibly due to compounded effects of earlier flight disruptions. The dashboard’s visuals also show that delays and cancellations are not heavily influenced by monthly fluctuations, hinting that operational challenges play a larger role than seasonal patterns. Interactive filters allow users to drill down by airline, airport, or cancellation reasons, providing a comprehensive view of performance dynamics. The visual representation of delays and cancellations across different dimensions offers actionable insights for improving schedule reliability and enhancing overall passenger experience.</a:t>
            </a:r>
            <a:endParaRPr lang="en-IN" dirty="0">
              <a:solidFill>
                <a:schemeClr val="bg1"/>
              </a:solidFill>
            </a:endParaRPr>
          </a:p>
        </p:txBody>
      </p:sp>
    </p:spTree>
    <p:extLst>
      <p:ext uri="{BB962C8B-B14F-4D97-AF65-F5344CB8AC3E}">
        <p14:creationId xmlns:p14="http://schemas.microsoft.com/office/powerpoint/2010/main" val="2972414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A3B39-5D51-42BE-33F6-A8700578D935}"/>
              </a:ext>
            </a:extLst>
          </p:cNvPr>
          <p:cNvSpPr>
            <a:spLocks noGrp="1"/>
          </p:cNvSpPr>
          <p:nvPr>
            <p:ph type="title"/>
          </p:nvPr>
        </p:nvSpPr>
        <p:spPr/>
        <p:txBody>
          <a:bodyPr>
            <a:normAutofit fontScale="90000"/>
          </a:bodyPr>
          <a:lstStyle/>
          <a:p>
            <a:r>
              <a:rPr lang="en-US" dirty="0"/>
              <a:t>DATA AND RESEARCH METHODOLOGY</a:t>
            </a:r>
            <a:endParaRPr lang="en-IN" dirty="0"/>
          </a:p>
        </p:txBody>
      </p:sp>
      <p:sp>
        <p:nvSpPr>
          <p:cNvPr id="3" name="Content Placeholder 2">
            <a:extLst>
              <a:ext uri="{FF2B5EF4-FFF2-40B4-BE49-F238E27FC236}">
                <a16:creationId xmlns:a16="http://schemas.microsoft.com/office/drawing/2014/main" id="{99D402A7-3BC1-E9C2-2C17-5F922644DF12}"/>
              </a:ext>
            </a:extLst>
          </p:cNvPr>
          <p:cNvSpPr>
            <a:spLocks noGrp="1"/>
          </p:cNvSpPr>
          <p:nvPr>
            <p:ph idx="1"/>
          </p:nvPr>
        </p:nvSpPr>
        <p:spPr/>
        <p:txBody>
          <a:bodyPr>
            <a:normAutofit fontScale="55000" lnSpcReduction="20000"/>
          </a:bodyPr>
          <a:lstStyle/>
          <a:p>
            <a:pPr marL="0" indent="0">
              <a:buNone/>
            </a:pPr>
            <a:r>
              <a:rPr lang="en-US" dirty="0"/>
              <a:t>Data Integration in Power BI </a:t>
            </a:r>
          </a:p>
          <a:p>
            <a:pPr marL="0" indent="0">
              <a:buNone/>
            </a:pPr>
            <a:r>
              <a:rPr lang="en-US" dirty="0"/>
              <a:t>Imported flight schedules, airline master data, and airport details into Power BI.</a:t>
            </a:r>
          </a:p>
          <a:p>
            <a:pPr marL="0" indent="0">
              <a:buNone/>
            </a:pPr>
            <a:r>
              <a:rPr lang="en-US" dirty="0"/>
              <a:t>Established data relationships using Airline Codes (IATA) and Airport Codes to ensure accurate linkage between flights, airlines, and airports.</a:t>
            </a:r>
          </a:p>
          <a:p>
            <a:pPr>
              <a:buFont typeface="Wingdings" panose="05000000000000000000" pitchFamily="2" charset="2"/>
              <a:buChar char="Ø"/>
            </a:pPr>
            <a:r>
              <a:rPr lang="en-US" dirty="0"/>
              <a:t>Dashboard Design &amp; Structure Designed interactive KPI Cards to highlight key metrics such as On-Time Performance, Total Cancellations, and Average Delays. Developed bar charts, line graphs, and pie charts to visualize delays and cancellations across airlines, airports, time slots, and reasons.</a:t>
            </a:r>
          </a:p>
          <a:p>
            <a:pPr>
              <a:buFont typeface="Wingdings" panose="05000000000000000000" pitchFamily="2" charset="2"/>
              <a:buChar char="Ø"/>
            </a:pPr>
            <a:r>
              <a:rPr lang="en-US" dirty="0"/>
              <a:t>Calculation of Key Metrics (DAX Measures)Created custom DAX measures to compute arrival/departure delays, cancellation distributions, and OTP rates dynamically. Implemented slicers and filters for Airline, Month, Airport, and Cancellation Reason to allow detailed drill-down analysis.</a:t>
            </a:r>
          </a:p>
          <a:p>
            <a:pPr marL="0" indent="0">
              <a:buNone/>
            </a:pPr>
            <a:endParaRPr lang="en-US" dirty="0"/>
          </a:p>
          <a:p>
            <a:pPr>
              <a:buFont typeface="Wingdings" panose="05000000000000000000" pitchFamily="2" charset="2"/>
              <a:buChar char="Ø"/>
            </a:pPr>
            <a:r>
              <a:rPr lang="en-US" dirty="0"/>
              <a:t>Objective of the Dashboard To transform raw flight data into actionable insights through an intuitive and interactive visual interface. Enable stakeholders to explore performance trends, identify operational bottlenecks, and support data-driven decision-making.</a:t>
            </a:r>
          </a:p>
          <a:p>
            <a:pPr marL="0" indent="0">
              <a:buNone/>
            </a:pPr>
            <a:endParaRPr lang="en-IN" dirty="0"/>
          </a:p>
        </p:txBody>
      </p:sp>
    </p:spTree>
    <p:extLst>
      <p:ext uri="{BB962C8B-B14F-4D97-AF65-F5344CB8AC3E}">
        <p14:creationId xmlns:p14="http://schemas.microsoft.com/office/powerpoint/2010/main" val="10216299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5DD0F-B4E3-1261-4925-5D2256454BBA}"/>
              </a:ext>
            </a:extLst>
          </p:cNvPr>
          <p:cNvSpPr>
            <a:spLocks noGrp="1"/>
          </p:cNvSpPr>
          <p:nvPr>
            <p:ph type="title"/>
          </p:nvPr>
        </p:nvSpPr>
        <p:spPr/>
        <p:txBody>
          <a:bodyPr/>
          <a:lstStyle/>
          <a:p>
            <a:r>
              <a:rPr lang="en-US" dirty="0">
                <a:latin typeface="Freestyle Script" panose="030804020302050B0404" pitchFamily="66" charset="0"/>
              </a:rPr>
              <a:t>RESULT AND KEY INSIGHTS</a:t>
            </a:r>
            <a:endParaRPr lang="en-IN" dirty="0">
              <a:latin typeface="Freestyle Script" panose="030804020302050B0404" pitchFamily="66" charset="0"/>
            </a:endParaRPr>
          </a:p>
        </p:txBody>
      </p:sp>
      <p:sp>
        <p:nvSpPr>
          <p:cNvPr id="3" name="Content Placeholder 2">
            <a:extLst>
              <a:ext uri="{FF2B5EF4-FFF2-40B4-BE49-F238E27FC236}">
                <a16:creationId xmlns:a16="http://schemas.microsoft.com/office/drawing/2014/main" id="{B6E96FFF-9BE7-E464-8F73-FABA126FCAAC}"/>
              </a:ext>
            </a:extLst>
          </p:cNvPr>
          <p:cNvSpPr>
            <a:spLocks noGrp="1"/>
          </p:cNvSpPr>
          <p:nvPr>
            <p:ph idx="1"/>
          </p:nvPr>
        </p:nvSpPr>
        <p:spPr>
          <a:xfrm>
            <a:off x="1" y="1197405"/>
            <a:ext cx="9000444" cy="3817625"/>
          </a:xfrm>
        </p:spPr>
        <p:txBody>
          <a:bodyPr>
            <a:normAutofit fontScale="32500" lnSpcReduction="20000"/>
          </a:bodyPr>
          <a:lstStyle/>
          <a:p>
            <a:pPr marL="0" indent="0">
              <a:buNone/>
            </a:pPr>
            <a:r>
              <a:rPr lang="en-US" sz="4300" dirty="0"/>
              <a:t>Flight Performance Trends</a:t>
            </a:r>
          </a:p>
          <a:p>
            <a:pPr marL="0" indent="0">
              <a:buNone/>
            </a:pPr>
            <a:r>
              <a:rPr lang="en-US" sz="4300" dirty="0"/>
              <a:t>Airlines showed varied punctuality levels — some maintaining consistent on-time arrivals, while others faced recurring operational delays. </a:t>
            </a:r>
          </a:p>
          <a:p>
            <a:pPr marL="0" indent="0">
              <a:buNone/>
            </a:pPr>
            <a:r>
              <a:rPr lang="en-US" sz="4300" dirty="0"/>
              <a:t>Cancellations were predominantly influenced by airline-internal issues, with weather-related factors contributing to significant disruptions.</a:t>
            </a:r>
          </a:p>
          <a:p>
            <a:pPr>
              <a:buFont typeface="Wingdings" panose="05000000000000000000" pitchFamily="2" charset="2"/>
              <a:buChar char="Ø"/>
            </a:pPr>
            <a:r>
              <a:rPr lang="en-US" sz="4300" dirty="0"/>
              <a:t> Airports Impact on Delays</a:t>
            </a:r>
          </a:p>
          <a:p>
            <a:pPr marL="0" indent="0">
              <a:buNone/>
            </a:pPr>
            <a:r>
              <a:rPr lang="en-US" sz="4300" dirty="0"/>
              <a:t>High-traffic airports exhibited moderate delays, whereas smaller regional airports faced persistent departure lag due to process inefficiencies. Specific airports emerged as delay hotspots, impacting overall flight schedules.</a:t>
            </a:r>
          </a:p>
          <a:p>
            <a:pPr>
              <a:buFont typeface="Wingdings" panose="05000000000000000000" pitchFamily="2" charset="2"/>
              <a:buChar char="Ø"/>
            </a:pPr>
            <a:r>
              <a:rPr lang="en-US" sz="4300" dirty="0"/>
              <a:t>Time of Day Analysis</a:t>
            </a:r>
          </a:p>
          <a:p>
            <a:pPr marL="0" indent="0">
              <a:buNone/>
            </a:pPr>
            <a:r>
              <a:rPr lang="en-US" sz="4300" dirty="0"/>
              <a:t>Flights scheduled for late morning departures faced the highest average delays, indicating congestion during operational peak hours. Early morning and late evening flights showed comparatively better punctuality.</a:t>
            </a:r>
          </a:p>
          <a:p>
            <a:pPr>
              <a:buFont typeface="Wingdings" panose="05000000000000000000" pitchFamily="2" charset="2"/>
              <a:buChar char="Ø"/>
            </a:pPr>
            <a:r>
              <a:rPr lang="en-US" sz="4300" dirty="0"/>
              <a:t>Seasonal Patterns</a:t>
            </a:r>
          </a:p>
          <a:p>
            <a:pPr marL="0" indent="0">
              <a:buNone/>
            </a:pPr>
            <a:r>
              <a:rPr lang="en-US" sz="4300" dirty="0"/>
              <a:t>Monthly trends in delays and cancellations remained relatively stable, suggesting internal operational challenges have a greater influence than seasonal variations.</a:t>
            </a:r>
          </a:p>
          <a:p>
            <a:pPr>
              <a:buFont typeface="Wingdings" panose="05000000000000000000" pitchFamily="2" charset="2"/>
              <a:buChar char="Ø"/>
            </a:pPr>
            <a:r>
              <a:rPr lang="en-US" sz="4300" dirty="0"/>
              <a:t> Interactive Insights through Dashboard</a:t>
            </a:r>
          </a:p>
          <a:p>
            <a:pPr marL="0" indent="0">
              <a:buNone/>
            </a:pPr>
            <a:r>
              <a:rPr lang="en-US" sz="4300" dirty="0"/>
              <a:t>The dashboard provided a clear visualization of performance gaps and allowed detailed exploration through dynamic filters. Enabled identification of high-delay airlines and airports, facilitating targeted improvement strategies.</a:t>
            </a:r>
          </a:p>
          <a:p>
            <a:endParaRPr lang="en-IN" dirty="0"/>
          </a:p>
        </p:txBody>
      </p:sp>
    </p:spTree>
    <p:extLst>
      <p:ext uri="{BB962C8B-B14F-4D97-AF65-F5344CB8AC3E}">
        <p14:creationId xmlns:p14="http://schemas.microsoft.com/office/powerpoint/2010/main" val="31494328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B5C7D-1CCE-0344-A3A4-13BBDA3926B7}"/>
              </a:ext>
            </a:extLst>
          </p:cNvPr>
          <p:cNvSpPr>
            <a:spLocks noGrp="1"/>
          </p:cNvSpPr>
          <p:nvPr>
            <p:ph type="title"/>
          </p:nvPr>
        </p:nvSpPr>
        <p:spPr/>
        <p:txBody>
          <a:bodyPr>
            <a:normAutofit fontScale="90000"/>
          </a:bodyPr>
          <a:lstStyle/>
          <a:p>
            <a:r>
              <a:rPr lang="en-US" dirty="0">
                <a:latin typeface="Freestyle Script" panose="030804020302050B0404" pitchFamily="66" charset="0"/>
              </a:rPr>
              <a:t>DICUSSION AND INTERPRETATION </a:t>
            </a:r>
            <a:endParaRPr lang="en-IN" dirty="0">
              <a:latin typeface="Freestyle Script" panose="030804020302050B0404" pitchFamily="66" charset="0"/>
            </a:endParaRPr>
          </a:p>
        </p:txBody>
      </p:sp>
      <p:sp>
        <p:nvSpPr>
          <p:cNvPr id="3" name="Content Placeholder 2">
            <a:extLst>
              <a:ext uri="{FF2B5EF4-FFF2-40B4-BE49-F238E27FC236}">
                <a16:creationId xmlns:a16="http://schemas.microsoft.com/office/drawing/2014/main" id="{0C5B1580-FBF2-94E6-CF7D-7D5165CF010D}"/>
              </a:ext>
            </a:extLst>
          </p:cNvPr>
          <p:cNvSpPr>
            <a:spLocks noGrp="1"/>
          </p:cNvSpPr>
          <p:nvPr>
            <p:ph idx="1"/>
          </p:nvPr>
        </p:nvSpPr>
        <p:spPr/>
        <p:txBody>
          <a:bodyPr>
            <a:normAutofit fontScale="62500" lnSpcReduction="20000"/>
          </a:bodyPr>
          <a:lstStyle/>
          <a:p>
            <a:pPr>
              <a:buFont typeface="Wingdings" panose="05000000000000000000" pitchFamily="2" charset="2"/>
              <a:buChar char="Ø"/>
            </a:pPr>
            <a:r>
              <a:rPr lang="en-US" dirty="0">
                <a:latin typeface="Arial Narrow" panose="020B0606020202030204" pitchFamily="34" charset="0"/>
              </a:rPr>
              <a:t>The analysis highlights how internal operational inefficiencies, such as aircraft turnaround times and crew management, play a crucial role in flight cancellations.</a:t>
            </a:r>
          </a:p>
          <a:p>
            <a:pPr>
              <a:buFont typeface="Wingdings" panose="05000000000000000000" pitchFamily="2" charset="2"/>
              <a:buChar char="Ø"/>
            </a:pPr>
            <a:r>
              <a:rPr lang="en-US" dirty="0">
                <a:latin typeface="Arial Narrow" panose="020B0606020202030204" pitchFamily="34" charset="0"/>
              </a:rPr>
              <a:t>Airports with complex layouts or heavy air traffic flow exhibit recurring delay patterns, suggesting a need for ground process optimization.</a:t>
            </a:r>
          </a:p>
          <a:p>
            <a:pPr>
              <a:buFont typeface="Wingdings" panose="05000000000000000000" pitchFamily="2" charset="2"/>
              <a:buChar char="Ø"/>
            </a:pPr>
            <a:r>
              <a:rPr lang="en-US" dirty="0">
                <a:latin typeface="Arial Narrow" panose="020B0606020202030204" pitchFamily="34" charset="0"/>
              </a:rPr>
              <a:t>Time-of-day trends emphasize that morning departures are more prone to delays due to compounded effects of initial operational lags and peak-hour congestion.</a:t>
            </a:r>
          </a:p>
          <a:p>
            <a:pPr>
              <a:buFont typeface="Wingdings" panose="05000000000000000000" pitchFamily="2" charset="2"/>
              <a:buChar char="Ø"/>
            </a:pPr>
            <a:r>
              <a:rPr lang="en-US" dirty="0">
                <a:latin typeface="Arial Narrow" panose="020B0606020202030204" pitchFamily="34" charset="0"/>
              </a:rPr>
              <a:t>Weather-related disruptions, though uncontrollable, account for a large share of cancellations, emphasizing the need for proactive contingency planning.</a:t>
            </a:r>
          </a:p>
          <a:p>
            <a:pPr>
              <a:buFont typeface="Wingdings" panose="05000000000000000000" pitchFamily="2" charset="2"/>
              <a:buChar char="Ø"/>
            </a:pPr>
            <a:r>
              <a:rPr lang="en-US" dirty="0">
                <a:latin typeface="Arial Narrow" panose="020B0606020202030204" pitchFamily="34" charset="0"/>
              </a:rPr>
              <a:t>Airlines with lower OTP rates might benefit from real-time monitoring systems and better resource allocation strategies.</a:t>
            </a:r>
            <a:endParaRPr lang="en-IN" dirty="0">
              <a:latin typeface="Arial Narrow" panose="020B0606020202030204" pitchFamily="34" charset="0"/>
            </a:endParaRPr>
          </a:p>
        </p:txBody>
      </p:sp>
    </p:spTree>
    <p:extLst>
      <p:ext uri="{BB962C8B-B14F-4D97-AF65-F5344CB8AC3E}">
        <p14:creationId xmlns:p14="http://schemas.microsoft.com/office/powerpoint/2010/main" val="3345619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68FA4-BC72-F243-5457-B69A8F40417E}"/>
              </a:ext>
            </a:extLst>
          </p:cNvPr>
          <p:cNvSpPr>
            <a:spLocks noGrp="1"/>
          </p:cNvSpPr>
          <p:nvPr>
            <p:ph type="title"/>
          </p:nvPr>
        </p:nvSpPr>
        <p:spPr/>
        <p:txBody>
          <a:bodyPr/>
          <a:lstStyle/>
          <a:p>
            <a:r>
              <a:rPr lang="en-US" dirty="0">
                <a:solidFill>
                  <a:srgbClr val="FF0000"/>
                </a:solidFill>
                <a:latin typeface="Freestyle Script" panose="030804020302050B0404" pitchFamily="66" charset="0"/>
              </a:rPr>
              <a:t>CHALLENGES AND LIMITATIONS</a:t>
            </a:r>
            <a:endParaRPr lang="en-IN" dirty="0">
              <a:solidFill>
                <a:srgbClr val="FF0000"/>
              </a:solidFill>
              <a:latin typeface="Freestyle Script" panose="030804020302050B0404" pitchFamily="66" charset="0"/>
            </a:endParaRPr>
          </a:p>
        </p:txBody>
      </p:sp>
      <p:sp>
        <p:nvSpPr>
          <p:cNvPr id="4" name="TextBox 3">
            <a:extLst>
              <a:ext uri="{FF2B5EF4-FFF2-40B4-BE49-F238E27FC236}">
                <a16:creationId xmlns:a16="http://schemas.microsoft.com/office/drawing/2014/main" id="{43EA0452-01EA-782C-2CF6-A9F4860CD5EB}"/>
              </a:ext>
            </a:extLst>
          </p:cNvPr>
          <p:cNvSpPr txBox="1"/>
          <p:nvPr/>
        </p:nvSpPr>
        <p:spPr>
          <a:xfrm>
            <a:off x="143555" y="1417588"/>
            <a:ext cx="8856890" cy="2585323"/>
          </a:xfrm>
          <a:prstGeom prst="rect">
            <a:avLst/>
          </a:prstGeom>
          <a:noFill/>
        </p:spPr>
        <p:txBody>
          <a:bodyPr wrap="square">
            <a:spAutoFit/>
          </a:bodyPr>
          <a:lstStyle/>
          <a:p>
            <a:pPr marL="285750" indent="-285750">
              <a:buFont typeface="Wingdings" panose="05000000000000000000" pitchFamily="2" charset="2"/>
              <a:buChar char="Ø"/>
            </a:pPr>
            <a:r>
              <a:rPr lang="en-IN" dirty="0">
                <a:latin typeface="Arial Narrow" panose="020B0606020202030204" pitchFamily="34" charset="0"/>
              </a:rPr>
              <a:t>The dataset provided cancellation reasons in coded formats (A, B, C, D) without detailed categorization, limiting the scope for granular root cause analysis.</a:t>
            </a:r>
          </a:p>
          <a:p>
            <a:pPr marL="285750" indent="-285750">
              <a:buFont typeface="Wingdings" panose="05000000000000000000" pitchFamily="2" charset="2"/>
              <a:buChar char="Ø"/>
            </a:pPr>
            <a:r>
              <a:rPr lang="en-IN" dirty="0">
                <a:latin typeface="Arial Narrow" panose="020B0606020202030204" pitchFamily="34" charset="0"/>
              </a:rPr>
              <a:t>Real-time external factors like Air Traffic Control (ATC) delays or passenger-induced delays were not available in the dataset.</a:t>
            </a:r>
          </a:p>
          <a:p>
            <a:pPr marL="285750" indent="-285750">
              <a:buFont typeface="Wingdings" panose="05000000000000000000" pitchFamily="2" charset="2"/>
              <a:buChar char="Ø"/>
            </a:pPr>
            <a:r>
              <a:rPr lang="en-IN" dirty="0">
                <a:latin typeface="Arial Narrow" panose="020B0606020202030204" pitchFamily="34" charset="0"/>
              </a:rPr>
              <a:t>Certain columns had missing data points (e.g., tail numbers), leading to data integrity challenges.</a:t>
            </a:r>
          </a:p>
          <a:p>
            <a:pPr marL="285750" indent="-285750">
              <a:buFont typeface="Wingdings" panose="05000000000000000000" pitchFamily="2" charset="2"/>
              <a:buChar char="Ø"/>
            </a:pPr>
            <a:r>
              <a:rPr lang="en-IN" dirty="0">
                <a:latin typeface="Arial Narrow" panose="020B0606020202030204" pitchFamily="34" charset="0"/>
              </a:rPr>
              <a:t>Seasonal and geographical factors influencing delays could have been further enriched with weather API integrations.</a:t>
            </a:r>
          </a:p>
          <a:p>
            <a:pPr marL="285750" indent="-285750">
              <a:buFont typeface="Wingdings" panose="05000000000000000000" pitchFamily="2" charset="2"/>
              <a:buChar char="Ø"/>
            </a:pPr>
            <a:r>
              <a:rPr lang="en-IN" dirty="0">
                <a:latin typeface="Arial Narrow" panose="020B0606020202030204" pitchFamily="34" charset="0"/>
              </a:rPr>
              <a:t>Dashboard insights are derived from historical static data — real-time dynamic data flows would provide a more accurate reflection of current trends.</a:t>
            </a:r>
          </a:p>
        </p:txBody>
      </p:sp>
    </p:spTree>
    <p:extLst>
      <p:ext uri="{BB962C8B-B14F-4D97-AF65-F5344CB8AC3E}">
        <p14:creationId xmlns:p14="http://schemas.microsoft.com/office/powerpoint/2010/main" val="1447346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E198E-B3AC-F715-590C-B72586B5243A}"/>
              </a:ext>
            </a:extLst>
          </p:cNvPr>
          <p:cNvSpPr>
            <a:spLocks noGrp="1"/>
          </p:cNvSpPr>
          <p:nvPr>
            <p:ph type="title"/>
          </p:nvPr>
        </p:nvSpPr>
        <p:spPr/>
        <p:txBody>
          <a:bodyPr/>
          <a:lstStyle/>
          <a:p>
            <a:r>
              <a:rPr lang="en-US" dirty="0">
                <a:solidFill>
                  <a:srgbClr val="FF0000"/>
                </a:solidFill>
                <a:latin typeface="Freestyle Script" panose="030804020302050B0404" pitchFamily="66" charset="0"/>
              </a:rPr>
              <a:t>CONCLUSION</a:t>
            </a:r>
            <a:endParaRPr lang="en-IN" dirty="0">
              <a:solidFill>
                <a:srgbClr val="FF0000"/>
              </a:solidFill>
              <a:latin typeface="Freestyle Script" panose="030804020302050B0404" pitchFamily="66" charset="0"/>
            </a:endParaRPr>
          </a:p>
        </p:txBody>
      </p:sp>
      <p:sp>
        <p:nvSpPr>
          <p:cNvPr id="4" name="TextBox 3">
            <a:extLst>
              <a:ext uri="{FF2B5EF4-FFF2-40B4-BE49-F238E27FC236}">
                <a16:creationId xmlns:a16="http://schemas.microsoft.com/office/drawing/2014/main" id="{EAEA7B22-403B-7AED-B56A-A7F9C449A270}"/>
              </a:ext>
            </a:extLst>
          </p:cNvPr>
          <p:cNvSpPr txBox="1"/>
          <p:nvPr/>
        </p:nvSpPr>
        <p:spPr>
          <a:xfrm>
            <a:off x="231790" y="1808225"/>
            <a:ext cx="8398775" cy="2585323"/>
          </a:xfrm>
          <a:prstGeom prst="rect">
            <a:avLst/>
          </a:prstGeom>
          <a:noFill/>
        </p:spPr>
        <p:txBody>
          <a:bodyPr wrap="square">
            <a:spAutoFit/>
          </a:bodyPr>
          <a:lstStyle/>
          <a:p>
            <a:pPr marL="285750" indent="-285750">
              <a:buFont typeface="Wingdings" panose="05000000000000000000" pitchFamily="2" charset="2"/>
              <a:buChar char="Ø"/>
            </a:pPr>
            <a:r>
              <a:rPr lang="en-IN" dirty="0">
                <a:latin typeface="Arial Narrow" panose="020B0606020202030204" pitchFamily="34" charset="0"/>
              </a:rPr>
              <a:t>The analysis successfully identified critical delay and cancellation patterns across airlines and airports.</a:t>
            </a:r>
          </a:p>
          <a:p>
            <a:pPr marL="285750" indent="-285750">
              <a:buFont typeface="Wingdings" panose="05000000000000000000" pitchFamily="2" charset="2"/>
              <a:buChar char="Ø"/>
            </a:pPr>
            <a:r>
              <a:rPr lang="en-IN" dirty="0">
                <a:latin typeface="Arial Narrow" panose="020B0606020202030204" pitchFamily="34" charset="0"/>
              </a:rPr>
              <a:t>Airlines need to focus on optimizing their controllable delay factors (like crew &amp; maintenance efficiency).Specific airports require operational audits to minimize delays during high-traffic hours.</a:t>
            </a:r>
          </a:p>
          <a:p>
            <a:pPr marL="285750" indent="-285750">
              <a:buFont typeface="Wingdings" panose="05000000000000000000" pitchFamily="2" charset="2"/>
              <a:buChar char="Ø"/>
            </a:pPr>
            <a:r>
              <a:rPr lang="en-IN" dirty="0">
                <a:latin typeface="Arial Narrow" panose="020B0606020202030204" pitchFamily="34" charset="0"/>
              </a:rPr>
              <a:t>Proactive planning and alternate scheduling strategies can mitigate weather-induced disruptions.</a:t>
            </a:r>
          </a:p>
          <a:p>
            <a:pPr marL="285750" indent="-285750">
              <a:buFont typeface="Wingdings" panose="05000000000000000000" pitchFamily="2" charset="2"/>
              <a:buChar char="Ø"/>
            </a:pPr>
            <a:r>
              <a:rPr lang="en-IN" dirty="0">
                <a:latin typeface="Arial Narrow" panose="020B0606020202030204" pitchFamily="34" charset="0"/>
              </a:rPr>
              <a:t>The interactive Power BI Dashboard provides an effective visual medium for stakeholders to monitor key performance metrics and take data-driven decisions</a:t>
            </a:r>
            <a:r>
              <a:rPr lang="en-IN" dirty="0"/>
              <a:t>.</a:t>
            </a:r>
          </a:p>
        </p:txBody>
      </p:sp>
    </p:spTree>
    <p:extLst>
      <p:ext uri="{BB962C8B-B14F-4D97-AF65-F5344CB8AC3E}">
        <p14:creationId xmlns:p14="http://schemas.microsoft.com/office/powerpoint/2010/main" val="4983184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6E69B-2BAA-EFBF-7778-8BEE562AB018}"/>
              </a:ext>
            </a:extLst>
          </p:cNvPr>
          <p:cNvSpPr>
            <a:spLocks noGrp="1"/>
          </p:cNvSpPr>
          <p:nvPr>
            <p:ph type="title"/>
          </p:nvPr>
        </p:nvSpPr>
        <p:spPr/>
        <p:txBody>
          <a:bodyPr>
            <a:normAutofit fontScale="90000"/>
          </a:bodyPr>
          <a:lstStyle/>
          <a:p>
            <a:r>
              <a:rPr lang="en-US" dirty="0"/>
              <a:t>RECOMMENDATION</a:t>
            </a:r>
            <a:endParaRPr lang="en-IN" dirty="0"/>
          </a:p>
        </p:txBody>
      </p:sp>
      <p:sp>
        <p:nvSpPr>
          <p:cNvPr id="3" name="Content Placeholder 2">
            <a:extLst>
              <a:ext uri="{FF2B5EF4-FFF2-40B4-BE49-F238E27FC236}">
                <a16:creationId xmlns:a16="http://schemas.microsoft.com/office/drawing/2014/main" id="{DB17FB48-9D30-B7F6-40C2-45AD7CC92DB4}"/>
              </a:ext>
            </a:extLst>
          </p:cNvPr>
          <p:cNvSpPr>
            <a:spLocks noGrp="1"/>
          </p:cNvSpPr>
          <p:nvPr>
            <p:ph idx="1"/>
          </p:nvPr>
        </p:nvSpPr>
        <p:spPr/>
        <p:txBody>
          <a:bodyPr>
            <a:normAutofit fontScale="70000" lnSpcReduction="20000"/>
          </a:bodyPr>
          <a:lstStyle/>
          <a:p>
            <a:pPr>
              <a:buFont typeface="Wingdings" panose="05000000000000000000" pitchFamily="2" charset="2"/>
              <a:buChar char="Ø"/>
            </a:pPr>
            <a:r>
              <a:rPr lang="en-US" dirty="0">
                <a:latin typeface="Arial Narrow" panose="020B0606020202030204" pitchFamily="34" charset="0"/>
              </a:rPr>
              <a:t>Operational Improvements: Airlines should streamline turnaround processes and ensure better crew &amp; equipment availability to reduce internal delays.</a:t>
            </a:r>
          </a:p>
          <a:p>
            <a:pPr>
              <a:buFont typeface="Wingdings" panose="05000000000000000000" pitchFamily="2" charset="2"/>
              <a:buChar char="Ø"/>
            </a:pPr>
            <a:r>
              <a:rPr lang="en-US" dirty="0">
                <a:latin typeface="Arial Narrow" panose="020B0606020202030204" pitchFamily="34" charset="0"/>
              </a:rPr>
              <a:t>Weather Preparedness: Implement predictive weather impact models and develop flexible re-scheduling protocols.</a:t>
            </a:r>
          </a:p>
          <a:p>
            <a:pPr>
              <a:buFont typeface="Wingdings" panose="05000000000000000000" pitchFamily="2" charset="2"/>
              <a:buChar char="Ø"/>
            </a:pPr>
            <a:r>
              <a:rPr lang="en-US" dirty="0">
                <a:latin typeface="Arial Narrow" panose="020B0606020202030204" pitchFamily="34" charset="0"/>
              </a:rPr>
              <a:t>Airport Collaboration: Airlines and airport authorities must jointly work on reducing ground-level inefficiencies, especially during peak operational hours.</a:t>
            </a:r>
          </a:p>
          <a:p>
            <a:pPr>
              <a:buFont typeface="Wingdings" panose="05000000000000000000" pitchFamily="2" charset="2"/>
              <a:buChar char="Ø"/>
            </a:pPr>
            <a:r>
              <a:rPr lang="en-US" dirty="0">
                <a:latin typeface="Arial Narrow" panose="020B0606020202030204" pitchFamily="34" charset="0"/>
              </a:rPr>
              <a:t>Real-time OTP Monitoring: Develop dashboards for daily OTP tracking with alert mechanisms for performance drops.</a:t>
            </a:r>
          </a:p>
          <a:p>
            <a:pPr>
              <a:buFont typeface="Wingdings" panose="05000000000000000000" pitchFamily="2" charset="2"/>
              <a:buChar char="Ø"/>
            </a:pPr>
            <a:r>
              <a:rPr lang="en-US" dirty="0">
                <a:latin typeface="Arial Narrow" panose="020B0606020202030204" pitchFamily="34" charset="0"/>
              </a:rPr>
              <a:t>Passenger Communication: Enhance transparency and proactive communication regarding delays to improve customer experience</a:t>
            </a:r>
            <a:r>
              <a:rPr lang="en-US" dirty="0"/>
              <a:t>.</a:t>
            </a:r>
            <a:endParaRPr lang="en-IN" dirty="0"/>
          </a:p>
        </p:txBody>
      </p:sp>
    </p:spTree>
    <p:extLst>
      <p:ext uri="{BB962C8B-B14F-4D97-AF65-F5344CB8AC3E}">
        <p14:creationId xmlns:p14="http://schemas.microsoft.com/office/powerpoint/2010/main" val="25292770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893</TotalTime>
  <Words>1496</Words>
  <Application>Microsoft Office PowerPoint</Application>
  <PresentationFormat>On-screen Show (16:9)</PresentationFormat>
  <Paragraphs>96</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Arial Narrow</vt:lpstr>
      <vt:lpstr>Book Antiqua</vt:lpstr>
      <vt:lpstr>Calibri</vt:lpstr>
      <vt:lpstr>Freestyle Script</vt:lpstr>
      <vt:lpstr>Goudy Old Style</vt:lpstr>
      <vt:lpstr>Wingdings</vt:lpstr>
      <vt:lpstr>Office Theme</vt:lpstr>
      <vt:lpstr> FLY EMIRATES PERFORMANCE</vt:lpstr>
      <vt:lpstr>INTRODUCTION</vt:lpstr>
      <vt:lpstr>OBJECTIVE</vt:lpstr>
      <vt:lpstr>CONTENT</vt:lpstr>
      <vt:lpstr>Data cleaning and transformation</vt:lpstr>
      <vt:lpstr>DATABASE SETUP AND OPERATION</vt:lpstr>
      <vt:lpstr>RUNNING QUERIES IN SQL</vt:lpstr>
      <vt:lpstr>PowerPoint Presentation</vt:lpstr>
      <vt:lpstr>POWER BI DASHBOARD</vt:lpstr>
      <vt:lpstr>DATA AND RESEARCH METHODOLOGY</vt:lpstr>
      <vt:lpstr>RESULT AND KEY INSIGHTS</vt:lpstr>
      <vt:lpstr>DICUSSION AND INTERPRETATION </vt:lpstr>
      <vt:lpstr>CHALLENGES AND LIMITATIONS</vt:lpstr>
      <vt:lpstr>CONCLUSION</vt:lpstr>
      <vt:lpstr>RECOMMENDATION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anjalimishra.am111@gmail.com</cp:lastModifiedBy>
  <cp:revision>115</cp:revision>
  <dcterms:created xsi:type="dcterms:W3CDTF">2013-08-21T19:17:07Z</dcterms:created>
  <dcterms:modified xsi:type="dcterms:W3CDTF">2025-07-31T08:09:02Z</dcterms:modified>
</cp:coreProperties>
</file>